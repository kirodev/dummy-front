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modernComment_10A_C659895E.xml" ContentType="application/vnd.ms-powerpoint.comment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omments/modernComment_10C_183C6A2E.xml" ContentType="application/vnd.ms-powerpoint.comments+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omments/modernComment_10E_86C081EA.xml" ContentType="application/vnd.ms-powerpoint.comments+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theme/themeOverride1.xml" ContentType="application/vnd.openxmlformats-officedocument.themeOverrid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5" r:id="rId4"/>
    <p:sldId id="260" r:id="rId5"/>
    <p:sldId id="276" r:id="rId6"/>
    <p:sldId id="263" r:id="rId7"/>
    <p:sldId id="266" r:id="rId8"/>
    <p:sldId id="267" r:id="rId9"/>
    <p:sldId id="268" r:id="rId10"/>
    <p:sldId id="270" r:id="rId11"/>
    <p:sldId id="269" r:id="rId12"/>
    <p:sldId id="271" r:id="rId13"/>
    <p:sldId id="277" r:id="rId14"/>
    <p:sldId id="272" r:id="rId15"/>
    <p:sldId id="273" r:id="rId16"/>
    <p:sldId id="274" r:id="rId17"/>
    <p:sldId id="278" r:id="rId18"/>
    <p:sldId id="26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A9F9252-3D97-9E11-22C8-9AD8F05460E5}" name="Santiago Marcelo Bergallo" initials="SB" userId="321b6dccdbf057a5"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130" autoAdjust="0"/>
    <p:restoredTop sz="94660"/>
  </p:normalViewPr>
  <p:slideViewPr>
    <p:cSldViewPr snapToGrid="0">
      <p:cViewPr varScale="1">
        <p:scale>
          <a:sx n="92" d="100"/>
          <a:sy n="92" d="100"/>
        </p:scale>
        <p:origin x="90" y="3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file:///C:\Users\berga\Dropbox\Espacio%20familiar\Back-end\Data%20library\Judicial_documents\DE_Germany\Aktenzeichen_2.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berga\Dropbox\Espacio%20familiar\Back-end\Data%20library\Judicial_documents\DE_Germany\Aktenzeichen_2.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berga\Dropbox\Espacio%20familiar\Back-end\Data%20library\Judicial_documents\DE_Germany\Aktenzeichen_2.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berga\Dropbox\Espacio%20familiar\Back-end\Data%20library\Judicial_documents\DE_Germany\Aktenzeichen_2.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berga\Dropbox\Espacio%20familiar\Back-end\Data%20library\Judicial_documents\DE_Germany\Aktenzeichen_2.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berga\Dropbox\Espacio%20familiar\Back-end\Data%20library\Judicial_documents\DE_Germany\Aktenzeichen_2.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berga\Dropbox\Espacio%20familiar\Back-end\Data%20library\Judicial_documents\DE_Germany\Aktenzeichen_2.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berga\Dropbox\Espacio%20familiar\Back-end\Data%20library\Judicial_documents\DE_Germany\Aktenzeichen_2.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berga\Dropbox\Espacio%20familiar\Back-end\Data%20library\Judicial_documents\DE_Germany\Aktenzeichen_2.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berga\Dropbox\Espacio%20familiar\Back-end\Data%20library\Judicial_documents\DE_Germany\Aktenzeichen_2.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1.xml"/><Relationship Id="rId1" Type="http://schemas.microsoft.com/office/2011/relationships/chartStyle" Target="style11.xml"/><Relationship Id="rId4" Type="http://schemas.openxmlformats.org/officeDocument/2006/relationships/oleObject" Target="file:///C:\Users\berga\Dropbox\Espacio%20familiar\Back-end\Data%20library\Judicial_documents\DE_Germany\Aktenzeichen_2.xlsx" TargetMode="External"/></Relationships>
</file>

<file path=ppt/charts/_rels/chart12.xml.rels><?xml version="1.0" encoding="UTF-8" standalone="yes"?>
<Relationships xmlns="http://schemas.openxmlformats.org/package/2006/relationships"><Relationship Id="rId3" Type="http://schemas.openxmlformats.org/officeDocument/2006/relationships/oleObject" Target="file:///C:\Users\berga\Dropbox\Espacio%20familiar\Back-end\Data%20library\Judicial_documents\DE_Germany\Aktenzeichen_2.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file:///C:\Users\berga\Dropbox\Espacio%20familiar\Back-end\Data%20library\Judicial_documents\DE_Germany\Aktenzeichen_2.xlsx"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oleObject" Target="file:///C:\Users\berga\Dropbox\Espacio%20familiar\Back-end\Data%20library\Judicial_documents\DE_Germany\Aktenzeichen_2.xlsx" TargetMode="External"/><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oleObject" Target="file:///C:\Users\berga\Dropbox\Espacio%20familiar\Back-end\Data%20library\Judicial_documents\DE_Germany\Aktenzeichen_2.xlsx" TargetMode="External"/><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oleObject" Target="file:///C:\Users\berga\Dropbox\Espacio%20familiar\Back-end\Data%20library\Judicial_documents\DE_Germany\Aktenzeichen_2.xlsx" TargetMode="External"/><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oleObject" Target="file:///C:\Users\berga\Dropbox\Espacio%20familiar\Back-end\Data%20library\Judicial_documents\DE_Germany\Aktenzeichen_2.xlsx" TargetMode="External"/><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oleObject" Target="file:///C:\Users\berga\Dropbox\Espacio%20familiar\Back-end\Data%20library\Judicial_documents\DE_Germany\Aktenzeichen_2.xlsx" TargetMode="External"/><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oleObject" Target="file:///C:\Users\berga\Dropbox\Espacio%20familiar\Back-end\Data%20library\Judicial_documents\DE_Germany\Aktenzeichen_2.xlsx" TargetMode="External"/><Relationship Id="rId2" Type="http://schemas.microsoft.com/office/2011/relationships/chartColorStyle" Target="colors19.xml"/><Relationship Id="rId1" Type="http://schemas.microsoft.com/office/2011/relationships/chartStyle" Target="style1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kern="1200" spc="0" baseline="0">
                <a:solidFill>
                  <a:sysClr val="windowText" lastClr="000000">
                    <a:lumMod val="65000"/>
                    <a:lumOff val="35000"/>
                  </a:sysClr>
                </a:solidFill>
              </a:rPr>
              <a:t>Amount of disputes decided per year, divided by outcome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Fights!$AF$1</c:f>
              <c:strCache>
                <c:ptCount val="1"/>
                <c:pt idx="0">
                  <c:v>Disputes awarded an injunction</c:v>
                </c:pt>
              </c:strCache>
            </c:strRef>
          </c:tx>
          <c:spPr>
            <a:solidFill>
              <a:schemeClr val="accent1"/>
            </a:solidFill>
            <a:ln>
              <a:noFill/>
            </a:ln>
            <a:effectLst/>
          </c:spPr>
          <c:invertIfNegative val="0"/>
          <c:cat>
            <c:numRef>
              <c:f>Fights!$AE$2:$AE$10</c:f>
              <c:numCache>
                <c:formatCode>General</c:formatCode>
                <c:ptCount val="9"/>
                <c:pt idx="0">
                  <c:v>2015</c:v>
                </c:pt>
                <c:pt idx="1">
                  <c:v>2016</c:v>
                </c:pt>
                <c:pt idx="2">
                  <c:v>2017</c:v>
                </c:pt>
                <c:pt idx="3">
                  <c:v>2018</c:v>
                </c:pt>
                <c:pt idx="4">
                  <c:v>2019</c:v>
                </c:pt>
                <c:pt idx="5">
                  <c:v>2020</c:v>
                </c:pt>
                <c:pt idx="6">
                  <c:v>2021</c:v>
                </c:pt>
                <c:pt idx="7">
                  <c:v>2022</c:v>
                </c:pt>
                <c:pt idx="8">
                  <c:v>2023</c:v>
                </c:pt>
              </c:numCache>
            </c:numRef>
          </c:cat>
          <c:val>
            <c:numRef>
              <c:f>Fights!$AF$2:$AF$10</c:f>
              <c:numCache>
                <c:formatCode>General</c:formatCode>
                <c:ptCount val="9"/>
                <c:pt idx="0">
                  <c:v>2</c:v>
                </c:pt>
                <c:pt idx="1">
                  <c:v>7</c:v>
                </c:pt>
                <c:pt idx="2">
                  <c:v>1</c:v>
                </c:pt>
                <c:pt idx="3">
                  <c:v>3</c:v>
                </c:pt>
                <c:pt idx="4">
                  <c:v>2</c:v>
                </c:pt>
                <c:pt idx="5">
                  <c:v>6</c:v>
                </c:pt>
                <c:pt idx="6">
                  <c:v>3</c:v>
                </c:pt>
                <c:pt idx="7">
                  <c:v>4</c:v>
                </c:pt>
                <c:pt idx="8">
                  <c:v>3</c:v>
                </c:pt>
              </c:numCache>
            </c:numRef>
          </c:val>
          <c:extLst>
            <c:ext xmlns:c16="http://schemas.microsoft.com/office/drawing/2014/chart" uri="{C3380CC4-5D6E-409C-BE32-E72D297353CC}">
              <c16:uniqueId val="{00000000-47B5-4F88-BC77-D7C45001AD01}"/>
            </c:ext>
          </c:extLst>
        </c:ser>
        <c:ser>
          <c:idx val="1"/>
          <c:order val="1"/>
          <c:tx>
            <c:strRef>
              <c:f>Fights!$AG$1</c:f>
              <c:strCache>
                <c:ptCount val="1"/>
                <c:pt idx="0">
                  <c:v>Disputes with no injunction granted</c:v>
                </c:pt>
              </c:strCache>
            </c:strRef>
          </c:tx>
          <c:spPr>
            <a:solidFill>
              <a:schemeClr val="accent2"/>
            </a:solidFill>
            <a:ln>
              <a:noFill/>
            </a:ln>
            <a:effectLst/>
          </c:spPr>
          <c:invertIfNegative val="0"/>
          <c:cat>
            <c:numRef>
              <c:f>Fights!$AE$2:$AE$10</c:f>
              <c:numCache>
                <c:formatCode>General</c:formatCode>
                <c:ptCount val="9"/>
                <c:pt idx="0">
                  <c:v>2015</c:v>
                </c:pt>
                <c:pt idx="1">
                  <c:v>2016</c:v>
                </c:pt>
                <c:pt idx="2">
                  <c:v>2017</c:v>
                </c:pt>
                <c:pt idx="3">
                  <c:v>2018</c:v>
                </c:pt>
                <c:pt idx="4">
                  <c:v>2019</c:v>
                </c:pt>
                <c:pt idx="5">
                  <c:v>2020</c:v>
                </c:pt>
                <c:pt idx="6">
                  <c:v>2021</c:v>
                </c:pt>
                <c:pt idx="7">
                  <c:v>2022</c:v>
                </c:pt>
                <c:pt idx="8">
                  <c:v>2023</c:v>
                </c:pt>
              </c:numCache>
            </c:numRef>
          </c:cat>
          <c:val>
            <c:numRef>
              <c:f>Fights!$AG$2:$AG$10</c:f>
              <c:numCache>
                <c:formatCode>General</c:formatCode>
                <c:ptCount val="9"/>
                <c:pt idx="0">
                  <c:v>0</c:v>
                </c:pt>
                <c:pt idx="1">
                  <c:v>4</c:v>
                </c:pt>
                <c:pt idx="2">
                  <c:v>5</c:v>
                </c:pt>
                <c:pt idx="3">
                  <c:v>3</c:v>
                </c:pt>
                <c:pt idx="4">
                  <c:v>0</c:v>
                </c:pt>
                <c:pt idx="5">
                  <c:v>3</c:v>
                </c:pt>
                <c:pt idx="6">
                  <c:v>1</c:v>
                </c:pt>
                <c:pt idx="7">
                  <c:v>0</c:v>
                </c:pt>
                <c:pt idx="8">
                  <c:v>0</c:v>
                </c:pt>
              </c:numCache>
            </c:numRef>
          </c:val>
          <c:extLst>
            <c:ext xmlns:c16="http://schemas.microsoft.com/office/drawing/2014/chart" uri="{C3380CC4-5D6E-409C-BE32-E72D297353CC}">
              <c16:uniqueId val="{00000001-47B5-4F88-BC77-D7C45001AD01}"/>
            </c:ext>
          </c:extLst>
        </c:ser>
        <c:dLbls>
          <c:showLegendKey val="0"/>
          <c:showVal val="0"/>
          <c:showCatName val="0"/>
          <c:showSerName val="0"/>
          <c:showPercent val="0"/>
          <c:showBubbleSize val="0"/>
        </c:dLbls>
        <c:gapWidth val="219"/>
        <c:overlap val="-27"/>
        <c:axId val="826796335"/>
        <c:axId val="826807375"/>
      </c:barChart>
      <c:catAx>
        <c:axId val="82679633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26807375"/>
        <c:crosses val="autoZero"/>
        <c:auto val="1"/>
        <c:lblAlgn val="ctr"/>
        <c:lblOffset val="100"/>
        <c:noMultiLvlLbl val="0"/>
      </c:catAx>
      <c:valAx>
        <c:axId val="82680737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2679633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dirty="0">
                <a:effectLst/>
              </a:rPr>
              <a:t>Number of decisions (distinct case references) in database by year of ruling.</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stacked"/>
        <c:varyColors val="0"/>
        <c:ser>
          <c:idx val="0"/>
          <c:order val="0"/>
          <c:tx>
            <c:strRef>
              <c:f>'Old graphs'!$J$1</c:f>
              <c:strCache>
                <c:ptCount val="1"/>
                <c:pt idx="0">
                  <c:v>Transition cases (initiated before Huawei v. ZTE)</c:v>
                </c:pt>
              </c:strCache>
            </c:strRef>
          </c:tx>
          <c:spPr>
            <a:solidFill>
              <a:schemeClr val="accent1"/>
            </a:solidFill>
            <a:ln>
              <a:noFill/>
            </a:ln>
            <a:effectLst/>
          </c:spPr>
          <c:invertIfNegative val="0"/>
          <c:cat>
            <c:numRef>
              <c:f>'Old graphs'!$I$3:$I$11</c:f>
              <c:numCache>
                <c:formatCode>General</c:formatCode>
                <c:ptCount val="9"/>
                <c:pt idx="0">
                  <c:v>2015</c:v>
                </c:pt>
                <c:pt idx="1">
                  <c:v>2016</c:v>
                </c:pt>
                <c:pt idx="2">
                  <c:v>2017</c:v>
                </c:pt>
                <c:pt idx="3">
                  <c:v>2018</c:v>
                </c:pt>
                <c:pt idx="4">
                  <c:v>2019</c:v>
                </c:pt>
                <c:pt idx="5">
                  <c:v>2020</c:v>
                </c:pt>
                <c:pt idx="6">
                  <c:v>2021</c:v>
                </c:pt>
                <c:pt idx="7">
                  <c:v>2022</c:v>
                </c:pt>
                <c:pt idx="8">
                  <c:v>2023</c:v>
                </c:pt>
              </c:numCache>
              <c:extLst/>
            </c:numRef>
          </c:cat>
          <c:val>
            <c:numRef>
              <c:f>'Old graphs'!$J$3:$J$11</c:f>
              <c:numCache>
                <c:formatCode>General</c:formatCode>
                <c:ptCount val="9"/>
                <c:pt idx="0">
                  <c:v>3</c:v>
                </c:pt>
                <c:pt idx="1">
                  <c:v>8</c:v>
                </c:pt>
                <c:pt idx="2">
                  <c:v>1</c:v>
                </c:pt>
                <c:pt idx="3">
                  <c:v>0</c:v>
                </c:pt>
                <c:pt idx="4">
                  <c:v>0</c:v>
                </c:pt>
                <c:pt idx="5">
                  <c:v>0</c:v>
                </c:pt>
                <c:pt idx="6">
                  <c:v>0</c:v>
                </c:pt>
                <c:pt idx="7">
                  <c:v>0</c:v>
                </c:pt>
                <c:pt idx="8">
                  <c:v>0</c:v>
                </c:pt>
              </c:numCache>
              <c:extLst/>
            </c:numRef>
          </c:val>
          <c:extLst>
            <c:ext xmlns:c16="http://schemas.microsoft.com/office/drawing/2014/chart" uri="{C3380CC4-5D6E-409C-BE32-E72D297353CC}">
              <c16:uniqueId val="{00000000-2BFB-4386-854C-F925EEC64A4B}"/>
            </c:ext>
          </c:extLst>
        </c:ser>
        <c:ser>
          <c:idx val="1"/>
          <c:order val="1"/>
          <c:tx>
            <c:strRef>
              <c:f>'Old graphs'!$K$1</c:f>
              <c:strCache>
                <c:ptCount val="1"/>
                <c:pt idx="0">
                  <c:v>post-Huawei</c:v>
                </c:pt>
              </c:strCache>
            </c:strRef>
          </c:tx>
          <c:spPr>
            <a:solidFill>
              <a:schemeClr val="accent2"/>
            </a:solidFill>
            <a:ln>
              <a:noFill/>
            </a:ln>
            <a:effectLst/>
          </c:spPr>
          <c:invertIfNegative val="0"/>
          <c:cat>
            <c:numRef>
              <c:f>'Old graphs'!$I$3:$I$11</c:f>
              <c:numCache>
                <c:formatCode>General</c:formatCode>
                <c:ptCount val="9"/>
                <c:pt idx="0">
                  <c:v>2015</c:v>
                </c:pt>
                <c:pt idx="1">
                  <c:v>2016</c:v>
                </c:pt>
                <c:pt idx="2">
                  <c:v>2017</c:v>
                </c:pt>
                <c:pt idx="3">
                  <c:v>2018</c:v>
                </c:pt>
                <c:pt idx="4">
                  <c:v>2019</c:v>
                </c:pt>
                <c:pt idx="5">
                  <c:v>2020</c:v>
                </c:pt>
                <c:pt idx="6">
                  <c:v>2021</c:v>
                </c:pt>
                <c:pt idx="7">
                  <c:v>2022</c:v>
                </c:pt>
                <c:pt idx="8">
                  <c:v>2023</c:v>
                </c:pt>
              </c:numCache>
              <c:extLst/>
            </c:numRef>
          </c:cat>
          <c:val>
            <c:numRef>
              <c:f>'Old graphs'!$K$3:$K$11</c:f>
              <c:numCache>
                <c:formatCode>General</c:formatCode>
                <c:ptCount val="9"/>
                <c:pt idx="0">
                  <c:v>0</c:v>
                </c:pt>
                <c:pt idx="1">
                  <c:v>7</c:v>
                </c:pt>
                <c:pt idx="2">
                  <c:v>8</c:v>
                </c:pt>
                <c:pt idx="3">
                  <c:v>14</c:v>
                </c:pt>
                <c:pt idx="4">
                  <c:v>2</c:v>
                </c:pt>
                <c:pt idx="5">
                  <c:v>13</c:v>
                </c:pt>
                <c:pt idx="6">
                  <c:v>6</c:v>
                </c:pt>
                <c:pt idx="7">
                  <c:v>5</c:v>
                </c:pt>
                <c:pt idx="8">
                  <c:v>4</c:v>
                </c:pt>
              </c:numCache>
              <c:extLst/>
            </c:numRef>
          </c:val>
          <c:extLst>
            <c:ext xmlns:c16="http://schemas.microsoft.com/office/drawing/2014/chart" uri="{C3380CC4-5D6E-409C-BE32-E72D297353CC}">
              <c16:uniqueId val="{00000001-2BFB-4386-854C-F925EEC64A4B}"/>
            </c:ext>
          </c:extLst>
        </c:ser>
        <c:dLbls>
          <c:showLegendKey val="0"/>
          <c:showVal val="0"/>
          <c:showCatName val="0"/>
          <c:showSerName val="0"/>
          <c:showPercent val="0"/>
          <c:showBubbleSize val="0"/>
        </c:dLbls>
        <c:gapWidth val="150"/>
        <c:overlap val="100"/>
        <c:axId val="1457818496"/>
        <c:axId val="1754066144"/>
      </c:barChart>
      <c:catAx>
        <c:axId val="14578184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n-US"/>
          </a:p>
        </c:txPr>
        <c:crossAx val="1754066144"/>
        <c:crosses val="autoZero"/>
        <c:auto val="1"/>
        <c:lblAlgn val="ctr"/>
        <c:lblOffset val="100"/>
        <c:noMultiLvlLbl val="0"/>
      </c:catAx>
      <c:valAx>
        <c:axId val="17540661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145781849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dirty="0">
                <a:effectLst/>
              </a:rPr>
              <a:t>Litigation outcome by year of decision </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6.2215989411047563E-2"/>
          <c:y val="0.10820661681775524"/>
          <c:w val="0.91963805243146013"/>
          <c:h val="0.81433647893804584"/>
        </c:manualLayout>
      </c:layout>
      <c:barChart>
        <c:barDir val="col"/>
        <c:grouping val="clustered"/>
        <c:varyColors val="0"/>
        <c:ser>
          <c:idx val="0"/>
          <c:order val="0"/>
          <c:tx>
            <c:strRef>
              <c:f>'Old graphs'!$AY$1</c:f>
              <c:strCache>
                <c:ptCount val="1"/>
                <c:pt idx="0">
                  <c:v>Injunction granted</c:v>
                </c:pt>
              </c:strCache>
            </c:strRef>
          </c:tx>
          <c:spPr>
            <a:solidFill>
              <a:schemeClr val="accent1"/>
            </a:solidFill>
            <a:ln>
              <a:noFill/>
            </a:ln>
            <a:effectLst/>
          </c:spPr>
          <c:invertIfNegative val="0"/>
          <c:cat>
            <c:numRef>
              <c:f>'Old graphs'!$AX$3:$AX$11</c:f>
              <c:numCache>
                <c:formatCode>General</c:formatCode>
                <c:ptCount val="9"/>
                <c:pt idx="0">
                  <c:v>2015</c:v>
                </c:pt>
                <c:pt idx="1">
                  <c:v>2016</c:v>
                </c:pt>
                <c:pt idx="2">
                  <c:v>2017</c:v>
                </c:pt>
                <c:pt idx="3">
                  <c:v>2018</c:v>
                </c:pt>
                <c:pt idx="4">
                  <c:v>2019</c:v>
                </c:pt>
                <c:pt idx="5">
                  <c:v>2020</c:v>
                </c:pt>
                <c:pt idx="6">
                  <c:v>2021</c:v>
                </c:pt>
                <c:pt idx="7">
                  <c:v>2022</c:v>
                </c:pt>
                <c:pt idx="8">
                  <c:v>2023</c:v>
                </c:pt>
              </c:numCache>
              <c:extLst/>
            </c:numRef>
          </c:cat>
          <c:val>
            <c:numRef>
              <c:f>'Old graphs'!$AY$3:$AY$11</c:f>
              <c:numCache>
                <c:formatCode>General</c:formatCode>
                <c:ptCount val="9"/>
                <c:pt idx="0">
                  <c:v>3</c:v>
                </c:pt>
                <c:pt idx="1">
                  <c:v>9</c:v>
                </c:pt>
                <c:pt idx="2">
                  <c:v>1</c:v>
                </c:pt>
                <c:pt idx="3">
                  <c:v>9</c:v>
                </c:pt>
                <c:pt idx="4">
                  <c:v>2</c:v>
                </c:pt>
                <c:pt idx="5">
                  <c:v>9</c:v>
                </c:pt>
                <c:pt idx="6">
                  <c:v>5</c:v>
                </c:pt>
                <c:pt idx="7">
                  <c:v>6</c:v>
                </c:pt>
                <c:pt idx="8">
                  <c:v>4</c:v>
                </c:pt>
              </c:numCache>
              <c:extLst/>
            </c:numRef>
          </c:val>
          <c:extLst>
            <c:ext xmlns:c16="http://schemas.microsoft.com/office/drawing/2014/chart" uri="{C3380CC4-5D6E-409C-BE32-E72D297353CC}">
              <c16:uniqueId val="{00000000-C01F-4424-B67B-36D0E8F8A76A}"/>
            </c:ext>
          </c:extLst>
        </c:ser>
        <c:ser>
          <c:idx val="1"/>
          <c:order val="1"/>
          <c:tx>
            <c:strRef>
              <c:f>'Old graphs'!$AZ$1</c:f>
              <c:strCache>
                <c:ptCount val="1"/>
                <c:pt idx="0">
                  <c:v>Not granted</c:v>
                </c:pt>
              </c:strCache>
            </c:strRef>
          </c:tx>
          <c:spPr>
            <a:solidFill>
              <a:schemeClr val="accent2"/>
            </a:solidFill>
            <a:ln>
              <a:noFill/>
            </a:ln>
            <a:effectLst/>
          </c:spPr>
          <c:invertIfNegative val="0"/>
          <c:cat>
            <c:numRef>
              <c:f>'Old graphs'!$AX$3:$AX$11</c:f>
              <c:numCache>
                <c:formatCode>General</c:formatCode>
                <c:ptCount val="9"/>
                <c:pt idx="0">
                  <c:v>2015</c:v>
                </c:pt>
                <c:pt idx="1">
                  <c:v>2016</c:v>
                </c:pt>
                <c:pt idx="2">
                  <c:v>2017</c:v>
                </c:pt>
                <c:pt idx="3">
                  <c:v>2018</c:v>
                </c:pt>
                <c:pt idx="4">
                  <c:v>2019</c:v>
                </c:pt>
                <c:pt idx="5">
                  <c:v>2020</c:v>
                </c:pt>
                <c:pt idx="6">
                  <c:v>2021</c:v>
                </c:pt>
                <c:pt idx="7">
                  <c:v>2022</c:v>
                </c:pt>
                <c:pt idx="8">
                  <c:v>2023</c:v>
                </c:pt>
              </c:numCache>
              <c:extLst/>
            </c:numRef>
          </c:cat>
          <c:val>
            <c:numRef>
              <c:f>'Old graphs'!$AZ$3:$AZ$11</c:f>
              <c:numCache>
                <c:formatCode>General</c:formatCode>
                <c:ptCount val="9"/>
                <c:pt idx="0">
                  <c:v>0</c:v>
                </c:pt>
                <c:pt idx="1">
                  <c:v>6</c:v>
                </c:pt>
                <c:pt idx="2">
                  <c:v>8</c:v>
                </c:pt>
                <c:pt idx="3">
                  <c:v>5</c:v>
                </c:pt>
                <c:pt idx="4">
                  <c:v>0</c:v>
                </c:pt>
                <c:pt idx="5">
                  <c:v>3</c:v>
                </c:pt>
                <c:pt idx="6">
                  <c:v>1</c:v>
                </c:pt>
                <c:pt idx="7">
                  <c:v>0</c:v>
                </c:pt>
                <c:pt idx="8">
                  <c:v>0</c:v>
                </c:pt>
              </c:numCache>
              <c:extLst/>
            </c:numRef>
          </c:val>
          <c:extLst>
            <c:ext xmlns:c16="http://schemas.microsoft.com/office/drawing/2014/chart" uri="{C3380CC4-5D6E-409C-BE32-E72D297353CC}">
              <c16:uniqueId val="{00000001-C01F-4424-B67B-36D0E8F8A76A}"/>
            </c:ext>
          </c:extLst>
        </c:ser>
        <c:dLbls>
          <c:showLegendKey val="0"/>
          <c:showVal val="0"/>
          <c:showCatName val="0"/>
          <c:showSerName val="0"/>
          <c:showPercent val="0"/>
          <c:showBubbleSize val="0"/>
        </c:dLbls>
        <c:gapWidth val="219"/>
        <c:overlap val="-27"/>
        <c:axId val="896165631"/>
        <c:axId val="896192031"/>
      </c:barChart>
      <c:catAx>
        <c:axId val="89616563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96192031"/>
        <c:crosses val="autoZero"/>
        <c:auto val="1"/>
        <c:lblAlgn val="ctr"/>
        <c:lblOffset val="100"/>
        <c:noMultiLvlLbl val="0"/>
      </c:catAx>
      <c:valAx>
        <c:axId val="89619203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96165631"/>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dirty="0">
                <a:effectLst/>
              </a:rPr>
              <a:t>Litigation outcome by court (transition cases included)</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'Old graphs'!$B$1</c:f>
              <c:strCache>
                <c:ptCount val="1"/>
                <c:pt idx="0">
                  <c:v>Yes</c:v>
                </c:pt>
              </c:strCache>
            </c:strRef>
          </c:tx>
          <c:spPr>
            <a:solidFill>
              <a:schemeClr val="accent1"/>
            </a:solidFill>
            <a:ln>
              <a:noFill/>
            </a:ln>
            <a:effectLst/>
          </c:spPr>
          <c:invertIfNegative val="0"/>
          <c:cat>
            <c:strRef>
              <c:f>'Old graphs'!$A$2:$A$4</c:f>
              <c:strCache>
                <c:ptCount val="3"/>
                <c:pt idx="0">
                  <c:v>Duesseldorf</c:v>
                </c:pt>
                <c:pt idx="1">
                  <c:v>Mannheim</c:v>
                </c:pt>
                <c:pt idx="2">
                  <c:v>Munich</c:v>
                </c:pt>
              </c:strCache>
            </c:strRef>
          </c:cat>
          <c:val>
            <c:numRef>
              <c:f>'Old graphs'!$B$2:$B$4</c:f>
              <c:numCache>
                <c:formatCode>General</c:formatCode>
                <c:ptCount val="3"/>
                <c:pt idx="0">
                  <c:v>21</c:v>
                </c:pt>
                <c:pt idx="1">
                  <c:v>13</c:v>
                </c:pt>
                <c:pt idx="2">
                  <c:v>14</c:v>
                </c:pt>
              </c:numCache>
            </c:numRef>
          </c:val>
          <c:extLst>
            <c:ext xmlns:c16="http://schemas.microsoft.com/office/drawing/2014/chart" uri="{C3380CC4-5D6E-409C-BE32-E72D297353CC}">
              <c16:uniqueId val="{00000000-EEA1-47FC-B274-E2DBA56F317E}"/>
            </c:ext>
          </c:extLst>
        </c:ser>
        <c:ser>
          <c:idx val="1"/>
          <c:order val="1"/>
          <c:tx>
            <c:strRef>
              <c:f>'Old graphs'!$C$1</c:f>
              <c:strCache>
                <c:ptCount val="1"/>
                <c:pt idx="0">
                  <c:v>No</c:v>
                </c:pt>
              </c:strCache>
            </c:strRef>
          </c:tx>
          <c:spPr>
            <a:solidFill>
              <a:schemeClr val="accent2"/>
            </a:solidFill>
            <a:ln>
              <a:noFill/>
            </a:ln>
            <a:effectLst/>
          </c:spPr>
          <c:invertIfNegative val="0"/>
          <c:cat>
            <c:strRef>
              <c:f>'Old graphs'!$A$2:$A$4</c:f>
              <c:strCache>
                <c:ptCount val="3"/>
                <c:pt idx="0">
                  <c:v>Duesseldorf</c:v>
                </c:pt>
                <c:pt idx="1">
                  <c:v>Mannheim</c:v>
                </c:pt>
                <c:pt idx="2">
                  <c:v>Munich</c:v>
                </c:pt>
              </c:strCache>
            </c:strRef>
          </c:cat>
          <c:val>
            <c:numRef>
              <c:f>'Old graphs'!$C$2:$C$4</c:f>
              <c:numCache>
                <c:formatCode>General</c:formatCode>
                <c:ptCount val="3"/>
                <c:pt idx="0">
                  <c:v>11</c:v>
                </c:pt>
                <c:pt idx="1">
                  <c:v>12</c:v>
                </c:pt>
                <c:pt idx="2">
                  <c:v>0</c:v>
                </c:pt>
              </c:numCache>
            </c:numRef>
          </c:val>
          <c:extLst>
            <c:ext xmlns:c16="http://schemas.microsoft.com/office/drawing/2014/chart" uri="{C3380CC4-5D6E-409C-BE32-E72D297353CC}">
              <c16:uniqueId val="{00000001-EEA1-47FC-B274-E2DBA56F317E}"/>
            </c:ext>
          </c:extLst>
        </c:ser>
        <c:dLbls>
          <c:showLegendKey val="0"/>
          <c:showVal val="0"/>
          <c:showCatName val="0"/>
          <c:showSerName val="0"/>
          <c:showPercent val="0"/>
          <c:showBubbleSize val="0"/>
        </c:dLbls>
        <c:gapWidth val="219"/>
        <c:overlap val="-27"/>
        <c:axId val="1742997008"/>
        <c:axId val="1754075072"/>
      </c:barChart>
      <c:catAx>
        <c:axId val="17429970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54075072"/>
        <c:crosses val="autoZero"/>
        <c:auto val="1"/>
        <c:lblAlgn val="ctr"/>
        <c:lblOffset val="100"/>
        <c:noMultiLvlLbl val="0"/>
      </c:catAx>
      <c:valAx>
        <c:axId val="17540750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4299700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dirty="0">
                <a:effectLst/>
              </a:rPr>
              <a:t>Litigation outcome by duration of pre-litigation negotiation (date of first contact to complaint)</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'Lag graphs'!$AJ$1</c:f>
              <c:strCache>
                <c:ptCount val="1"/>
                <c:pt idx="0">
                  <c:v>Yes</c:v>
                </c:pt>
              </c:strCache>
            </c:strRef>
          </c:tx>
          <c:spPr>
            <a:solidFill>
              <a:schemeClr val="accent1"/>
            </a:solidFill>
            <a:ln>
              <a:noFill/>
            </a:ln>
            <a:effectLst/>
          </c:spPr>
          <c:invertIfNegative val="0"/>
          <c:cat>
            <c:strRef>
              <c:f>'Lag graphs'!$AI$2:$AI$6</c:f>
              <c:strCache>
                <c:ptCount val="5"/>
                <c:pt idx="0">
                  <c:v>Less than 1 year</c:v>
                </c:pt>
                <c:pt idx="1">
                  <c:v>1 to 2 years</c:v>
                </c:pt>
                <c:pt idx="2">
                  <c:v>2 to 3 years</c:v>
                </c:pt>
                <c:pt idx="3">
                  <c:v>3 to 5 years</c:v>
                </c:pt>
                <c:pt idx="4">
                  <c:v>More than 5 years</c:v>
                </c:pt>
              </c:strCache>
            </c:strRef>
          </c:cat>
          <c:val>
            <c:numRef>
              <c:f>'Lag graphs'!$AJ$2:$AJ$6</c:f>
              <c:numCache>
                <c:formatCode>General</c:formatCode>
                <c:ptCount val="5"/>
                <c:pt idx="0">
                  <c:v>10</c:v>
                </c:pt>
                <c:pt idx="1">
                  <c:v>1</c:v>
                </c:pt>
                <c:pt idx="2">
                  <c:v>3</c:v>
                </c:pt>
                <c:pt idx="3">
                  <c:v>0</c:v>
                </c:pt>
                <c:pt idx="4">
                  <c:v>13</c:v>
                </c:pt>
              </c:numCache>
            </c:numRef>
          </c:val>
          <c:extLst>
            <c:ext xmlns:c16="http://schemas.microsoft.com/office/drawing/2014/chart" uri="{C3380CC4-5D6E-409C-BE32-E72D297353CC}">
              <c16:uniqueId val="{00000000-3D42-4074-B2D7-5E8E73952EB7}"/>
            </c:ext>
          </c:extLst>
        </c:ser>
        <c:ser>
          <c:idx val="1"/>
          <c:order val="1"/>
          <c:tx>
            <c:strRef>
              <c:f>'Lag graphs'!$AK$1</c:f>
              <c:strCache>
                <c:ptCount val="1"/>
                <c:pt idx="0">
                  <c:v>No</c:v>
                </c:pt>
              </c:strCache>
            </c:strRef>
          </c:tx>
          <c:spPr>
            <a:solidFill>
              <a:schemeClr val="accent2"/>
            </a:solidFill>
            <a:ln>
              <a:noFill/>
            </a:ln>
            <a:effectLst/>
          </c:spPr>
          <c:invertIfNegative val="0"/>
          <c:cat>
            <c:strRef>
              <c:f>'Lag graphs'!$AI$2:$AI$6</c:f>
              <c:strCache>
                <c:ptCount val="5"/>
                <c:pt idx="0">
                  <c:v>Less than 1 year</c:v>
                </c:pt>
                <c:pt idx="1">
                  <c:v>1 to 2 years</c:v>
                </c:pt>
                <c:pt idx="2">
                  <c:v>2 to 3 years</c:v>
                </c:pt>
                <c:pt idx="3">
                  <c:v>3 to 5 years</c:v>
                </c:pt>
                <c:pt idx="4">
                  <c:v>More than 5 years</c:v>
                </c:pt>
              </c:strCache>
            </c:strRef>
          </c:cat>
          <c:val>
            <c:numRef>
              <c:f>'Lag graphs'!$AK$2:$AK$6</c:f>
              <c:numCache>
                <c:formatCode>General</c:formatCode>
                <c:ptCount val="5"/>
                <c:pt idx="0">
                  <c:v>3</c:v>
                </c:pt>
                <c:pt idx="1">
                  <c:v>6</c:v>
                </c:pt>
                <c:pt idx="2">
                  <c:v>4</c:v>
                </c:pt>
                <c:pt idx="3">
                  <c:v>3</c:v>
                </c:pt>
                <c:pt idx="4">
                  <c:v>0</c:v>
                </c:pt>
              </c:numCache>
            </c:numRef>
          </c:val>
          <c:extLst>
            <c:ext xmlns:c16="http://schemas.microsoft.com/office/drawing/2014/chart" uri="{C3380CC4-5D6E-409C-BE32-E72D297353CC}">
              <c16:uniqueId val="{00000001-3D42-4074-B2D7-5E8E73952EB7}"/>
            </c:ext>
          </c:extLst>
        </c:ser>
        <c:dLbls>
          <c:showLegendKey val="0"/>
          <c:showVal val="0"/>
          <c:showCatName val="0"/>
          <c:showSerName val="0"/>
          <c:showPercent val="0"/>
          <c:showBubbleSize val="0"/>
        </c:dLbls>
        <c:gapWidth val="219"/>
        <c:overlap val="-27"/>
        <c:axId val="1330392480"/>
        <c:axId val="1505471904"/>
      </c:barChart>
      <c:catAx>
        <c:axId val="13303924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05471904"/>
        <c:crosses val="autoZero"/>
        <c:auto val="1"/>
        <c:lblAlgn val="ctr"/>
        <c:lblOffset val="100"/>
        <c:noMultiLvlLbl val="0"/>
      </c:catAx>
      <c:valAx>
        <c:axId val="150547190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3039248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dirty="0">
                <a:effectLst/>
              </a:rPr>
              <a:t>Litigation outcome by duration of litigation (complaint to decision)</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'Lag graphs'!$V$1</c:f>
              <c:strCache>
                <c:ptCount val="1"/>
                <c:pt idx="0">
                  <c:v>Yes</c:v>
                </c:pt>
              </c:strCache>
            </c:strRef>
          </c:tx>
          <c:spPr>
            <a:solidFill>
              <a:schemeClr val="accent1"/>
            </a:solidFill>
            <a:ln>
              <a:noFill/>
            </a:ln>
            <a:effectLst/>
          </c:spPr>
          <c:invertIfNegative val="0"/>
          <c:cat>
            <c:strRef>
              <c:f>'Lag graphs'!$U$2:$U$6</c:f>
              <c:strCache>
                <c:ptCount val="5"/>
                <c:pt idx="0">
                  <c:v>Less than 1 year</c:v>
                </c:pt>
                <c:pt idx="1">
                  <c:v>1 to 2 years</c:v>
                </c:pt>
                <c:pt idx="2">
                  <c:v>2 to 3 years</c:v>
                </c:pt>
                <c:pt idx="3">
                  <c:v>3 to 5 years</c:v>
                </c:pt>
                <c:pt idx="4">
                  <c:v>More than 5 years</c:v>
                </c:pt>
              </c:strCache>
            </c:strRef>
          </c:cat>
          <c:val>
            <c:numRef>
              <c:f>'Lag graphs'!$V$2:$V$6</c:f>
              <c:numCache>
                <c:formatCode>General</c:formatCode>
                <c:ptCount val="5"/>
                <c:pt idx="0">
                  <c:v>6</c:v>
                </c:pt>
                <c:pt idx="1">
                  <c:v>21</c:v>
                </c:pt>
                <c:pt idx="2">
                  <c:v>2</c:v>
                </c:pt>
                <c:pt idx="3">
                  <c:v>1</c:v>
                </c:pt>
                <c:pt idx="4">
                  <c:v>0</c:v>
                </c:pt>
              </c:numCache>
            </c:numRef>
          </c:val>
          <c:extLst>
            <c:ext xmlns:c16="http://schemas.microsoft.com/office/drawing/2014/chart" uri="{C3380CC4-5D6E-409C-BE32-E72D297353CC}">
              <c16:uniqueId val="{00000000-F50B-4F30-A9ED-C6E94834E1B6}"/>
            </c:ext>
          </c:extLst>
        </c:ser>
        <c:ser>
          <c:idx val="1"/>
          <c:order val="1"/>
          <c:tx>
            <c:strRef>
              <c:f>'Lag graphs'!$W$1</c:f>
              <c:strCache>
                <c:ptCount val="1"/>
                <c:pt idx="0">
                  <c:v>No</c:v>
                </c:pt>
              </c:strCache>
            </c:strRef>
          </c:tx>
          <c:spPr>
            <a:solidFill>
              <a:schemeClr val="accent2"/>
            </a:solidFill>
            <a:ln>
              <a:noFill/>
            </a:ln>
            <a:effectLst/>
          </c:spPr>
          <c:invertIfNegative val="0"/>
          <c:cat>
            <c:strRef>
              <c:f>'Lag graphs'!$U$2:$U$6</c:f>
              <c:strCache>
                <c:ptCount val="5"/>
                <c:pt idx="0">
                  <c:v>Less than 1 year</c:v>
                </c:pt>
                <c:pt idx="1">
                  <c:v>1 to 2 years</c:v>
                </c:pt>
                <c:pt idx="2">
                  <c:v>2 to 3 years</c:v>
                </c:pt>
                <c:pt idx="3">
                  <c:v>3 to 5 years</c:v>
                </c:pt>
                <c:pt idx="4">
                  <c:v>More than 5 years</c:v>
                </c:pt>
              </c:strCache>
            </c:strRef>
          </c:cat>
          <c:val>
            <c:numRef>
              <c:f>'Lag graphs'!$W$2:$W$6</c:f>
              <c:numCache>
                <c:formatCode>General</c:formatCode>
                <c:ptCount val="5"/>
                <c:pt idx="0">
                  <c:v>7</c:v>
                </c:pt>
                <c:pt idx="1">
                  <c:v>12</c:v>
                </c:pt>
                <c:pt idx="2">
                  <c:v>1</c:v>
                </c:pt>
                <c:pt idx="3">
                  <c:v>0</c:v>
                </c:pt>
                <c:pt idx="4">
                  <c:v>0</c:v>
                </c:pt>
              </c:numCache>
            </c:numRef>
          </c:val>
          <c:extLst>
            <c:ext xmlns:c16="http://schemas.microsoft.com/office/drawing/2014/chart" uri="{C3380CC4-5D6E-409C-BE32-E72D297353CC}">
              <c16:uniqueId val="{00000001-F50B-4F30-A9ED-C6E94834E1B6}"/>
            </c:ext>
          </c:extLst>
        </c:ser>
        <c:dLbls>
          <c:showLegendKey val="0"/>
          <c:showVal val="0"/>
          <c:showCatName val="0"/>
          <c:showSerName val="0"/>
          <c:showPercent val="0"/>
          <c:showBubbleSize val="0"/>
        </c:dLbls>
        <c:gapWidth val="219"/>
        <c:overlap val="-27"/>
        <c:axId val="2095091312"/>
        <c:axId val="2085634480"/>
      </c:barChart>
      <c:catAx>
        <c:axId val="20950913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85634480"/>
        <c:crosses val="autoZero"/>
        <c:auto val="1"/>
        <c:lblAlgn val="ctr"/>
        <c:lblOffset val="100"/>
        <c:noMultiLvlLbl val="0"/>
      </c:catAx>
      <c:valAx>
        <c:axId val="20856344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9509131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dirty="0">
                <a:effectLst/>
              </a:rPr>
              <a:t>Litigation outcome by type of licensing offer – pool licensing offer Y/N</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'FRAND pools and worldwide'!$H$3:$I$3</c:f>
              <c:strCache>
                <c:ptCount val="2"/>
                <c:pt idx="0">
                  <c:v>Injunction</c:v>
                </c:pt>
                <c:pt idx="1">
                  <c:v>Yes</c:v>
                </c:pt>
              </c:strCache>
            </c:strRef>
          </c:tx>
          <c:spPr>
            <a:solidFill>
              <a:schemeClr val="accent1"/>
            </a:solidFill>
            <a:ln>
              <a:noFill/>
            </a:ln>
            <a:effectLst/>
          </c:spPr>
          <c:invertIfNegative val="0"/>
          <c:cat>
            <c:multiLvlStrRef>
              <c:f>'FRAND pools and worldwide'!$J$1:$K$2</c:f>
              <c:multiLvlStrCache>
                <c:ptCount val="2"/>
                <c:lvl>
                  <c:pt idx="0">
                    <c:v>Yes</c:v>
                  </c:pt>
                  <c:pt idx="1">
                    <c:v>Not found</c:v>
                  </c:pt>
                </c:lvl>
                <c:lvl>
                  <c:pt idx="0">
                    <c:v>Pool</c:v>
                  </c:pt>
                </c:lvl>
              </c:multiLvlStrCache>
            </c:multiLvlStrRef>
          </c:cat>
          <c:val>
            <c:numRef>
              <c:f>'FRAND pools and worldwide'!$J$26:$K$26</c:f>
              <c:numCache>
                <c:formatCode>General</c:formatCode>
                <c:ptCount val="2"/>
                <c:pt idx="0">
                  <c:v>30</c:v>
                </c:pt>
                <c:pt idx="1">
                  <c:v>18</c:v>
                </c:pt>
              </c:numCache>
            </c:numRef>
          </c:val>
          <c:extLst>
            <c:ext xmlns:c16="http://schemas.microsoft.com/office/drawing/2014/chart" uri="{C3380CC4-5D6E-409C-BE32-E72D297353CC}">
              <c16:uniqueId val="{00000000-CAB7-4BBE-8990-35261FA2D016}"/>
            </c:ext>
          </c:extLst>
        </c:ser>
        <c:ser>
          <c:idx val="1"/>
          <c:order val="1"/>
          <c:tx>
            <c:strRef>
              <c:f>'FRAND pools and worldwide'!$H$4:$I$4</c:f>
              <c:strCache>
                <c:ptCount val="2"/>
                <c:pt idx="0">
                  <c:v>Injunction</c:v>
                </c:pt>
                <c:pt idx="1">
                  <c:v>No</c:v>
                </c:pt>
              </c:strCache>
            </c:strRef>
          </c:tx>
          <c:spPr>
            <a:solidFill>
              <a:schemeClr val="accent2"/>
            </a:solidFill>
            <a:ln>
              <a:noFill/>
            </a:ln>
            <a:effectLst/>
          </c:spPr>
          <c:invertIfNegative val="0"/>
          <c:cat>
            <c:multiLvlStrRef>
              <c:f>'FRAND pools and worldwide'!$J$1:$K$2</c:f>
              <c:multiLvlStrCache>
                <c:ptCount val="2"/>
                <c:lvl>
                  <c:pt idx="0">
                    <c:v>Yes</c:v>
                  </c:pt>
                  <c:pt idx="1">
                    <c:v>Not found</c:v>
                  </c:pt>
                </c:lvl>
                <c:lvl>
                  <c:pt idx="0">
                    <c:v>Pool</c:v>
                  </c:pt>
                </c:lvl>
              </c:multiLvlStrCache>
            </c:multiLvlStrRef>
          </c:cat>
          <c:val>
            <c:numRef>
              <c:f>'FRAND pools and worldwide'!$J$27:$K$27</c:f>
              <c:numCache>
                <c:formatCode>General</c:formatCode>
                <c:ptCount val="2"/>
                <c:pt idx="0">
                  <c:v>1</c:v>
                </c:pt>
                <c:pt idx="1">
                  <c:v>22</c:v>
                </c:pt>
              </c:numCache>
            </c:numRef>
          </c:val>
          <c:extLst>
            <c:ext xmlns:c16="http://schemas.microsoft.com/office/drawing/2014/chart" uri="{C3380CC4-5D6E-409C-BE32-E72D297353CC}">
              <c16:uniqueId val="{00000001-CAB7-4BBE-8990-35261FA2D016}"/>
            </c:ext>
          </c:extLst>
        </c:ser>
        <c:dLbls>
          <c:showLegendKey val="0"/>
          <c:showVal val="0"/>
          <c:showCatName val="0"/>
          <c:showSerName val="0"/>
          <c:showPercent val="0"/>
          <c:showBubbleSize val="0"/>
        </c:dLbls>
        <c:gapWidth val="219"/>
        <c:overlap val="-27"/>
        <c:axId val="1199840592"/>
        <c:axId val="1501177808"/>
      </c:barChart>
      <c:catAx>
        <c:axId val="11998405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01177808"/>
        <c:crosses val="autoZero"/>
        <c:auto val="1"/>
        <c:lblAlgn val="ctr"/>
        <c:lblOffset val="100"/>
        <c:noMultiLvlLbl val="0"/>
      </c:catAx>
      <c:valAx>
        <c:axId val="15011778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9984059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dirty="0">
                <a:effectLst/>
              </a:rPr>
              <a:t>Litigation outcome by type of licensing offer – explicitly worldwide licensing offer Y/N</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'FRAND pools and worldwide'!$A$3:$B$3</c:f>
              <c:strCache>
                <c:ptCount val="2"/>
                <c:pt idx="0">
                  <c:v>Injunction</c:v>
                </c:pt>
                <c:pt idx="1">
                  <c:v>Yes</c:v>
                </c:pt>
              </c:strCache>
            </c:strRef>
          </c:tx>
          <c:spPr>
            <a:solidFill>
              <a:schemeClr val="accent1"/>
            </a:solidFill>
            <a:ln>
              <a:noFill/>
            </a:ln>
            <a:effectLst/>
          </c:spPr>
          <c:invertIfNegative val="0"/>
          <c:cat>
            <c:multiLvlStrRef>
              <c:f>'FRAND pools and worldwide'!$C$1:$D$2</c:f>
              <c:multiLvlStrCache>
                <c:ptCount val="2"/>
                <c:lvl>
                  <c:pt idx="0">
                    <c:v>Yes</c:v>
                  </c:pt>
                  <c:pt idx="1">
                    <c:v>Not found</c:v>
                  </c:pt>
                </c:lvl>
                <c:lvl>
                  <c:pt idx="0">
                    <c:v>Worldwide</c:v>
                  </c:pt>
                </c:lvl>
              </c:multiLvlStrCache>
            </c:multiLvlStrRef>
          </c:cat>
          <c:val>
            <c:numRef>
              <c:f>'FRAND pools and worldwide'!$C$26:$D$26</c:f>
              <c:numCache>
                <c:formatCode>General</c:formatCode>
                <c:ptCount val="2"/>
                <c:pt idx="0">
                  <c:v>39</c:v>
                </c:pt>
                <c:pt idx="1">
                  <c:v>9</c:v>
                </c:pt>
              </c:numCache>
            </c:numRef>
          </c:val>
          <c:extLst>
            <c:ext xmlns:c16="http://schemas.microsoft.com/office/drawing/2014/chart" uri="{C3380CC4-5D6E-409C-BE32-E72D297353CC}">
              <c16:uniqueId val="{00000000-79B3-4E09-8171-F72E5E2485B3}"/>
            </c:ext>
          </c:extLst>
        </c:ser>
        <c:ser>
          <c:idx val="1"/>
          <c:order val="1"/>
          <c:tx>
            <c:strRef>
              <c:f>'FRAND pools and worldwide'!$A$4:$B$4</c:f>
              <c:strCache>
                <c:ptCount val="2"/>
                <c:pt idx="0">
                  <c:v>Injunction</c:v>
                </c:pt>
                <c:pt idx="1">
                  <c:v>No</c:v>
                </c:pt>
              </c:strCache>
            </c:strRef>
          </c:tx>
          <c:spPr>
            <a:solidFill>
              <a:schemeClr val="accent2"/>
            </a:solidFill>
            <a:ln>
              <a:noFill/>
            </a:ln>
            <a:effectLst/>
          </c:spPr>
          <c:invertIfNegative val="0"/>
          <c:cat>
            <c:multiLvlStrRef>
              <c:f>'FRAND pools and worldwide'!$C$1:$D$2</c:f>
              <c:multiLvlStrCache>
                <c:ptCount val="2"/>
                <c:lvl>
                  <c:pt idx="0">
                    <c:v>Yes</c:v>
                  </c:pt>
                  <c:pt idx="1">
                    <c:v>Not found</c:v>
                  </c:pt>
                </c:lvl>
                <c:lvl>
                  <c:pt idx="0">
                    <c:v>Worldwide</c:v>
                  </c:pt>
                </c:lvl>
              </c:multiLvlStrCache>
            </c:multiLvlStrRef>
          </c:cat>
          <c:val>
            <c:numRef>
              <c:f>'FRAND pools and worldwide'!$C$27:$D$27</c:f>
              <c:numCache>
                <c:formatCode>General</c:formatCode>
                <c:ptCount val="2"/>
                <c:pt idx="0">
                  <c:v>13</c:v>
                </c:pt>
                <c:pt idx="1">
                  <c:v>10</c:v>
                </c:pt>
              </c:numCache>
            </c:numRef>
          </c:val>
          <c:extLst>
            <c:ext xmlns:c16="http://schemas.microsoft.com/office/drawing/2014/chart" uri="{C3380CC4-5D6E-409C-BE32-E72D297353CC}">
              <c16:uniqueId val="{00000001-79B3-4E09-8171-F72E5E2485B3}"/>
            </c:ext>
          </c:extLst>
        </c:ser>
        <c:dLbls>
          <c:showLegendKey val="0"/>
          <c:showVal val="0"/>
          <c:showCatName val="0"/>
          <c:showSerName val="0"/>
          <c:showPercent val="0"/>
          <c:showBubbleSize val="0"/>
        </c:dLbls>
        <c:gapWidth val="219"/>
        <c:overlap val="-27"/>
        <c:axId val="1510404288"/>
        <c:axId val="2085629024"/>
      </c:barChart>
      <c:catAx>
        <c:axId val="15104042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85629024"/>
        <c:crosses val="autoZero"/>
        <c:auto val="1"/>
        <c:lblAlgn val="ctr"/>
        <c:lblOffset val="100"/>
        <c:noMultiLvlLbl val="0"/>
      </c:catAx>
      <c:valAx>
        <c:axId val="208562902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1040428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800" dirty="0">
                <a:effectLst/>
              </a:rPr>
              <a:t>Patent validity challenges by regional court litigation outcome.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'Patent validity graphs'!$T$47</c:f>
              <c:strCache>
                <c:ptCount val="1"/>
                <c:pt idx="0">
                  <c:v>Patent validity challenged</c:v>
                </c:pt>
              </c:strCache>
            </c:strRef>
          </c:tx>
          <c:spPr>
            <a:solidFill>
              <a:schemeClr val="accent1"/>
            </a:solidFill>
            <a:ln>
              <a:noFill/>
            </a:ln>
            <a:effectLst/>
          </c:spPr>
          <c:invertIfNegative val="0"/>
          <c:cat>
            <c:strRef>
              <c:f>'Patent validity graphs'!$S$27:$S$28</c:f>
              <c:strCache>
                <c:ptCount val="2"/>
                <c:pt idx="0">
                  <c:v>Injunction granted</c:v>
                </c:pt>
                <c:pt idx="1">
                  <c:v>Injunction not granted</c:v>
                </c:pt>
              </c:strCache>
              <c:extLst/>
            </c:strRef>
          </c:cat>
          <c:val>
            <c:numRef>
              <c:f>'Patent validity graphs'!$T$27:$T$28</c:f>
              <c:numCache>
                <c:formatCode>General</c:formatCode>
                <c:ptCount val="2"/>
                <c:pt idx="0">
                  <c:v>43</c:v>
                </c:pt>
                <c:pt idx="1">
                  <c:v>21</c:v>
                </c:pt>
              </c:numCache>
              <c:extLst/>
            </c:numRef>
          </c:val>
          <c:extLst>
            <c:ext xmlns:c16="http://schemas.microsoft.com/office/drawing/2014/chart" uri="{C3380CC4-5D6E-409C-BE32-E72D297353CC}">
              <c16:uniqueId val="{00000000-D005-43C6-9422-62B4EAFD382B}"/>
            </c:ext>
          </c:extLst>
        </c:ser>
        <c:ser>
          <c:idx val="1"/>
          <c:order val="1"/>
          <c:tx>
            <c:strRef>
              <c:f>'Patent validity graphs'!$U$47</c:f>
              <c:strCache>
                <c:ptCount val="1"/>
                <c:pt idx="0">
                  <c:v>Patent validity not challenged</c:v>
                </c:pt>
              </c:strCache>
            </c:strRef>
          </c:tx>
          <c:spPr>
            <a:solidFill>
              <a:schemeClr val="accent2"/>
            </a:solidFill>
            <a:ln>
              <a:noFill/>
            </a:ln>
            <a:effectLst/>
          </c:spPr>
          <c:invertIfNegative val="0"/>
          <c:cat>
            <c:strRef>
              <c:f>'Patent validity graphs'!$S$27:$S$28</c:f>
              <c:strCache>
                <c:ptCount val="2"/>
                <c:pt idx="0">
                  <c:v>Injunction granted</c:v>
                </c:pt>
                <c:pt idx="1">
                  <c:v>Injunction not granted</c:v>
                </c:pt>
              </c:strCache>
              <c:extLst/>
            </c:strRef>
          </c:cat>
          <c:val>
            <c:numRef>
              <c:f>'Patent validity graphs'!$U$27:$U$28</c:f>
              <c:numCache>
                <c:formatCode>General</c:formatCode>
                <c:ptCount val="2"/>
                <c:pt idx="0">
                  <c:v>3</c:v>
                </c:pt>
                <c:pt idx="1">
                  <c:v>0</c:v>
                </c:pt>
              </c:numCache>
              <c:extLst/>
            </c:numRef>
          </c:val>
          <c:extLst>
            <c:ext xmlns:c16="http://schemas.microsoft.com/office/drawing/2014/chart" uri="{C3380CC4-5D6E-409C-BE32-E72D297353CC}">
              <c16:uniqueId val="{00000001-D005-43C6-9422-62B4EAFD382B}"/>
            </c:ext>
          </c:extLst>
        </c:ser>
        <c:ser>
          <c:idx val="2"/>
          <c:order val="2"/>
          <c:tx>
            <c:strRef>
              <c:f>'Patent validity graphs'!$W$26</c:f>
              <c:strCache>
                <c:ptCount val="1"/>
                <c:pt idx="0">
                  <c:v>Not found</c:v>
                </c:pt>
              </c:strCache>
            </c:strRef>
          </c:tx>
          <c:spPr>
            <a:solidFill>
              <a:schemeClr val="accent3"/>
            </a:solidFill>
            <a:ln>
              <a:noFill/>
            </a:ln>
            <a:effectLst/>
          </c:spPr>
          <c:invertIfNegative val="0"/>
          <c:cat>
            <c:strRef>
              <c:f>'Patent validity graphs'!$S$27:$S$28</c:f>
              <c:strCache>
                <c:ptCount val="2"/>
                <c:pt idx="0">
                  <c:v>Injunction granted</c:v>
                </c:pt>
                <c:pt idx="1">
                  <c:v>Injunction not granted</c:v>
                </c:pt>
              </c:strCache>
              <c:extLst/>
            </c:strRef>
          </c:cat>
          <c:val>
            <c:numRef>
              <c:f>'Patent validity graphs'!$W$27:$W$28</c:f>
              <c:numCache>
                <c:formatCode>General</c:formatCode>
                <c:ptCount val="2"/>
                <c:pt idx="0">
                  <c:v>2</c:v>
                </c:pt>
                <c:pt idx="1">
                  <c:v>2</c:v>
                </c:pt>
              </c:numCache>
              <c:extLst/>
            </c:numRef>
          </c:val>
          <c:extLst>
            <c:ext xmlns:c16="http://schemas.microsoft.com/office/drawing/2014/chart" uri="{C3380CC4-5D6E-409C-BE32-E72D297353CC}">
              <c16:uniqueId val="{00000002-D005-43C6-9422-62B4EAFD382B}"/>
            </c:ext>
          </c:extLst>
        </c:ser>
        <c:dLbls>
          <c:showLegendKey val="0"/>
          <c:showVal val="0"/>
          <c:showCatName val="0"/>
          <c:showSerName val="0"/>
          <c:showPercent val="0"/>
          <c:showBubbleSize val="0"/>
        </c:dLbls>
        <c:gapWidth val="219"/>
        <c:overlap val="-27"/>
        <c:axId val="538621343"/>
        <c:axId val="1505465456"/>
      </c:barChart>
      <c:catAx>
        <c:axId val="53862134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05465456"/>
        <c:crosses val="autoZero"/>
        <c:auto val="1"/>
        <c:lblAlgn val="ctr"/>
        <c:lblOffset val="100"/>
        <c:noMultiLvlLbl val="0"/>
      </c:catAx>
      <c:valAx>
        <c:axId val="150546545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3862134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Median</a:t>
            </a:r>
            <a:r>
              <a:rPr lang="en-US" baseline="0"/>
              <a:t> duration of cases</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spPr>
            <a:solidFill>
              <a:schemeClr val="accent1"/>
            </a:solidFill>
            <a:ln>
              <a:noFill/>
            </a:ln>
            <a:effectLst/>
          </c:spPr>
          <c:invertIfNegative val="0"/>
          <c:cat>
            <c:strRef>
              <c:f>'Patent validity graphs'!$AA$1:$AC$1</c:f>
              <c:strCache>
                <c:ptCount val="3"/>
                <c:pt idx="0">
                  <c:v>Injunction case</c:v>
                </c:pt>
                <c:pt idx="1">
                  <c:v>Validity case</c:v>
                </c:pt>
                <c:pt idx="2">
                  <c:v>Median Injunction-Validity lag</c:v>
                </c:pt>
              </c:strCache>
            </c:strRef>
          </c:cat>
          <c:val>
            <c:numRef>
              <c:f>'Patent validity graphs'!$AA$2:$AC$2</c:f>
              <c:numCache>
                <c:formatCode>General</c:formatCode>
                <c:ptCount val="3"/>
                <c:pt idx="0">
                  <c:v>531</c:v>
                </c:pt>
                <c:pt idx="1">
                  <c:v>929</c:v>
                </c:pt>
                <c:pt idx="2">
                  <c:v>433</c:v>
                </c:pt>
              </c:numCache>
            </c:numRef>
          </c:val>
          <c:extLst>
            <c:ext xmlns:c16="http://schemas.microsoft.com/office/drawing/2014/chart" uri="{C3380CC4-5D6E-409C-BE32-E72D297353CC}">
              <c16:uniqueId val="{00000000-CB0A-4683-88EB-ACA1F2893313}"/>
            </c:ext>
          </c:extLst>
        </c:ser>
        <c:dLbls>
          <c:showLegendKey val="0"/>
          <c:showVal val="0"/>
          <c:showCatName val="0"/>
          <c:showSerName val="0"/>
          <c:showPercent val="0"/>
          <c:showBubbleSize val="0"/>
        </c:dLbls>
        <c:gapWidth val="182"/>
        <c:axId val="1272396448"/>
        <c:axId val="1326393568"/>
      </c:barChart>
      <c:catAx>
        <c:axId val="1272396448"/>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26393568"/>
        <c:crosses val="autoZero"/>
        <c:auto val="1"/>
        <c:lblAlgn val="ctr"/>
        <c:lblOffset val="100"/>
        <c:noMultiLvlLbl val="0"/>
      </c:catAx>
      <c:valAx>
        <c:axId val="132639356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7239644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40" b="0" i="0" u="none" strike="noStrike" kern="1200" spc="0" baseline="0">
                <a:solidFill>
                  <a:schemeClr val="tx1">
                    <a:lumMod val="65000"/>
                    <a:lumOff val="35000"/>
                  </a:schemeClr>
                </a:solidFill>
                <a:latin typeface="+mn-lt"/>
                <a:ea typeface="+mn-ea"/>
                <a:cs typeface="+mn-cs"/>
              </a:defRPr>
            </a:pPr>
            <a:r>
              <a:rPr lang="en-US" sz="1440" b="0" i="0" u="none" strike="noStrike" baseline="0" dirty="0">
                <a:effectLst/>
              </a:rPr>
              <a:t>Validity challenges for asserted patents; cases in which an injunction issued only</a:t>
            </a:r>
            <a:endParaRPr lang="en-US" dirty="0"/>
          </a:p>
        </c:rich>
      </c:tx>
      <c:overlay val="0"/>
      <c:spPr>
        <a:noFill/>
        <a:ln>
          <a:noFill/>
        </a:ln>
        <a:effectLst/>
      </c:spPr>
      <c:txPr>
        <a:bodyPr rot="0" spcFirstLastPara="1" vertOverflow="ellipsis" vert="horz" wrap="square" anchor="ctr" anchorCtr="1"/>
        <a:lstStyle/>
        <a:p>
          <a:pPr>
            <a:defRPr sz="144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ofPieChart>
        <c:ofPieType val="pie"/>
        <c:varyColors val="1"/>
        <c: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1-AA10-40F3-96D0-BA73187A8CDB}"/>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AA10-40F3-96D0-BA73187A8CDB}"/>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AA10-40F3-96D0-BA73187A8CDB}"/>
              </c:ext>
            </c:extLst>
          </c:dPt>
          <c:dPt>
            <c:idx val="3"/>
            <c:bubble3D val="0"/>
            <c:spPr>
              <a:solidFill>
                <a:schemeClr val="accent4"/>
              </a:solidFill>
              <a:ln w="19050">
                <a:solidFill>
                  <a:schemeClr val="lt1"/>
                </a:solidFill>
              </a:ln>
              <a:effectLst/>
            </c:spPr>
          </c:dPt>
          <c:dLbls>
            <c:dLbl>
              <c:idx val="0"/>
              <c:tx>
                <c:rich>
                  <a:bodyPr/>
                  <a:lstStyle/>
                  <a:p>
                    <a:fld id="{D798231E-E417-44FE-B40A-3944CF8763DD}" type="VALUE">
                      <a:rPr lang="en-US">
                        <a:solidFill>
                          <a:schemeClr val="bg1"/>
                        </a:solidFill>
                      </a:rPr>
                      <a:pPr/>
                      <a:t>[VALUE]</a:t>
                    </a:fld>
                    <a:r>
                      <a:rPr lang="en-US" baseline="0">
                        <a:solidFill>
                          <a:schemeClr val="bg1"/>
                        </a:solidFill>
                      </a:rPr>
                      <a:t>, </a:t>
                    </a:r>
                    <a:fld id="{B6640E44-2750-4DBE-9B5F-6EA71DCA7914}" type="PERCENTAGE">
                      <a:rPr lang="en-US" baseline="0">
                        <a:solidFill>
                          <a:schemeClr val="bg1"/>
                        </a:solidFill>
                      </a:rPr>
                      <a:pPr/>
                      <a:t>[PERCENTAGE]</a:t>
                    </a:fld>
                    <a:endParaRPr lang="en-US" baseline="0">
                      <a:solidFill>
                        <a:schemeClr val="bg1"/>
                      </a:solidFill>
                    </a:endParaRPr>
                  </a:p>
                </c:rich>
              </c:tx>
              <c:dLblPos val="inEnd"/>
              <c:showLegendKey val="0"/>
              <c:showVal val="1"/>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AA10-40F3-96D0-BA73187A8CDB}"/>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65000"/>
                        <a:lumOff val="35000"/>
                      </a:schemeClr>
                    </a:solidFill>
                    <a:latin typeface="+mn-lt"/>
                    <a:ea typeface="+mn-ea"/>
                    <a:cs typeface="+mn-cs"/>
                  </a:defRPr>
                </a:pPr>
                <a:endParaRPr lang="en-US"/>
              </a:p>
            </c:txPr>
            <c:dLblPos val="inEnd"/>
            <c:showLegendKey val="0"/>
            <c:showVal val="1"/>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'Patent validity graphs'!$AE$23:$AE$25</c:f>
              <c:strCache>
                <c:ptCount val="3"/>
                <c:pt idx="0">
                  <c:v>Patents not challenged</c:v>
                </c:pt>
                <c:pt idx="1">
                  <c:v>Injunctions with conflicting validity decision</c:v>
                </c:pt>
                <c:pt idx="2">
                  <c:v>Injunctions w.o. conflicting validity decision</c:v>
                </c:pt>
              </c:strCache>
              <c:extLst/>
            </c:strRef>
          </c:cat>
          <c:val>
            <c:numRef>
              <c:f>'Patent validity graphs'!$AF$23:$AF$25</c:f>
              <c:numCache>
                <c:formatCode>General</c:formatCode>
                <c:ptCount val="3"/>
                <c:pt idx="0">
                  <c:v>5</c:v>
                </c:pt>
                <c:pt idx="1">
                  <c:v>18</c:v>
                </c:pt>
                <c:pt idx="2">
                  <c:v>25</c:v>
                </c:pt>
              </c:numCache>
              <c:extLst/>
            </c:numRef>
          </c:val>
          <c:extLst>
            <c:ext xmlns:c16="http://schemas.microsoft.com/office/drawing/2014/chart" uri="{C3380CC4-5D6E-409C-BE32-E72D297353CC}">
              <c16:uniqueId val="{00000006-AA10-40F3-96D0-BA73187A8CDB}"/>
            </c:ext>
          </c:extLst>
        </c:ser>
        <c:dLbls>
          <c:dLblPos val="inEnd"/>
          <c:showLegendKey val="0"/>
          <c:showVal val="0"/>
          <c:showCatName val="0"/>
          <c:showSerName val="0"/>
          <c:showPercent val="1"/>
          <c:showBubbleSize val="0"/>
          <c:showLeaderLines val="1"/>
        </c:dLbls>
        <c:gapWidth val="100"/>
        <c:splitType val="pos"/>
        <c:splitPos val="2"/>
        <c:secondPieSize val="75"/>
        <c:serLines>
          <c:spPr>
            <a:ln w="9525" cap="flat" cmpd="sng" algn="ctr">
              <a:solidFill>
                <a:schemeClr val="tx1">
                  <a:lumMod val="35000"/>
                  <a:lumOff val="65000"/>
                </a:schemeClr>
              </a:solidFill>
              <a:round/>
            </a:ln>
            <a:effectLst/>
          </c:spPr>
        </c:serLines>
      </c:ofPie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4">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Outcome</a:t>
            </a:r>
            <a:r>
              <a:rPr lang="en-US" baseline="0"/>
              <a:t> of validity challenges for cases that were granted an injunction</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'Patent validity graphs'!$S$57</c:f>
              <c:strCache>
                <c:ptCount val="1"/>
                <c:pt idx="0">
                  <c:v>Injunction granted</c:v>
                </c:pt>
              </c:strCache>
            </c:strRef>
          </c:tx>
          <c:spPr>
            <a:solidFill>
              <a:srgbClr val="FFC000"/>
            </a:solidFill>
            <a:ln>
              <a:noFill/>
            </a:ln>
            <a:effectLst/>
          </c:spPr>
          <c:invertIfNegative val="0"/>
          <c:cat>
            <c:strRef>
              <c:f>('Patent validity graphs'!$T$56:$U$56,'Patent validity graphs'!$W$56)</c:f>
              <c:strCache>
                <c:ptCount val="3"/>
                <c:pt idx="0">
                  <c:v>Invalid for Germany</c:v>
                </c:pt>
                <c:pt idx="1">
                  <c:v>Partially invalid for Germany</c:v>
                </c:pt>
                <c:pt idx="2">
                  <c:v>Charges dismissed</c:v>
                </c:pt>
              </c:strCache>
              <c:extLst/>
            </c:strRef>
          </c:cat>
          <c:val>
            <c:numRef>
              <c:f>('Patent validity graphs'!$T$57:$U$57,'Patent validity graphs'!$W$57)</c:f>
              <c:numCache>
                <c:formatCode>General</c:formatCode>
                <c:ptCount val="3"/>
                <c:pt idx="0">
                  <c:v>8</c:v>
                </c:pt>
                <c:pt idx="1">
                  <c:v>10</c:v>
                </c:pt>
                <c:pt idx="2">
                  <c:v>2</c:v>
                </c:pt>
              </c:numCache>
              <c:extLst/>
            </c:numRef>
          </c:val>
          <c:extLst>
            <c:ext xmlns:c16="http://schemas.microsoft.com/office/drawing/2014/chart" uri="{C3380CC4-5D6E-409C-BE32-E72D297353CC}">
              <c16:uniqueId val="{00000000-0DE4-4B8D-A5DB-E90EAF2B81DB}"/>
            </c:ext>
          </c:extLst>
        </c:ser>
        <c:dLbls>
          <c:showLegendKey val="0"/>
          <c:showVal val="0"/>
          <c:showCatName val="0"/>
          <c:showSerName val="0"/>
          <c:showPercent val="0"/>
          <c:showBubbleSize val="0"/>
        </c:dLbls>
        <c:gapWidth val="219"/>
        <c:overlap val="-27"/>
        <c:axId val="1119749328"/>
        <c:axId val="1119751728"/>
        <c:extLst>
          <c:ext xmlns:c15="http://schemas.microsoft.com/office/drawing/2012/chart" uri="{02D57815-91ED-43cb-92C2-25804820EDAC}">
            <c15:filteredBarSeries>
              <c15:ser>
                <c:idx val="1"/>
                <c:order val="1"/>
                <c:tx>
                  <c:strRef>
                    <c:extLst>
                      <c:ext uri="{02D57815-91ED-43cb-92C2-25804820EDAC}">
                        <c15:formulaRef>
                          <c15:sqref>'Patent validity graphs'!$S$58</c15:sqref>
                        </c15:formulaRef>
                      </c:ext>
                    </c:extLst>
                    <c:strCache>
                      <c:ptCount val="1"/>
                      <c:pt idx="0">
                        <c:v>Injunction not granted</c:v>
                      </c:pt>
                    </c:strCache>
                  </c:strRef>
                </c:tx>
                <c:spPr>
                  <a:solidFill>
                    <a:schemeClr val="accent2"/>
                  </a:solidFill>
                  <a:ln>
                    <a:noFill/>
                  </a:ln>
                  <a:effectLst/>
                </c:spPr>
                <c:invertIfNegative val="0"/>
                <c:cat>
                  <c:strRef>
                    <c:extLst>
                      <c:ext uri="{02D57815-91ED-43cb-92C2-25804820EDAC}">
                        <c15:formulaRef>
                          <c15:sqref>('Patent validity graphs'!$T$56:$U$56,'Patent validity graphs'!$W$56)</c15:sqref>
                        </c15:formulaRef>
                      </c:ext>
                    </c:extLst>
                    <c:strCache>
                      <c:ptCount val="3"/>
                      <c:pt idx="0">
                        <c:v>Invalid for Germany</c:v>
                      </c:pt>
                      <c:pt idx="1">
                        <c:v>Partially invalid for Germany</c:v>
                      </c:pt>
                      <c:pt idx="2">
                        <c:v>Charges dismissed</c:v>
                      </c:pt>
                    </c:strCache>
                  </c:strRef>
                </c:cat>
                <c:val>
                  <c:numRef>
                    <c:extLst>
                      <c:ext uri="{02D57815-91ED-43cb-92C2-25804820EDAC}">
                        <c15:formulaRef>
                          <c15:sqref>('Patent validity graphs'!$T$58:$U$58,'Patent validity graphs'!$W$58)</c15:sqref>
                        </c15:formulaRef>
                      </c:ext>
                    </c:extLst>
                    <c:numCache>
                      <c:formatCode>General</c:formatCode>
                      <c:ptCount val="3"/>
                      <c:pt idx="0">
                        <c:v>7</c:v>
                      </c:pt>
                      <c:pt idx="1">
                        <c:v>12</c:v>
                      </c:pt>
                      <c:pt idx="2">
                        <c:v>1</c:v>
                      </c:pt>
                    </c:numCache>
                  </c:numRef>
                </c:val>
                <c:extLst>
                  <c:ext xmlns:c16="http://schemas.microsoft.com/office/drawing/2014/chart" uri="{C3380CC4-5D6E-409C-BE32-E72D297353CC}">
                    <c16:uniqueId val="{00000001-0DE4-4B8D-A5DB-E90EAF2B81DB}"/>
                  </c:ext>
                </c:extLst>
              </c15:ser>
            </c15:filteredBarSeries>
          </c:ext>
        </c:extLst>
      </c:barChart>
      <c:catAx>
        <c:axId val="11197493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19751728"/>
        <c:crosses val="autoZero"/>
        <c:auto val="1"/>
        <c:lblAlgn val="ctr"/>
        <c:lblOffset val="100"/>
        <c:noMultiLvlLbl val="0"/>
      </c:catAx>
      <c:valAx>
        <c:axId val="111975172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1974932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dirty="0">
                <a:effectLst/>
              </a:rPr>
              <a:t>Litigation outcome by finding of an abuse of dominant position</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FromPython!$K$38</c:f>
              <c:strCache>
                <c:ptCount val="1"/>
                <c:pt idx="0">
                  <c:v>Injunction granted</c:v>
                </c:pt>
              </c:strCache>
            </c:strRef>
          </c:tx>
          <c:spPr>
            <a:solidFill>
              <a:schemeClr val="accent1"/>
            </a:solidFill>
            <a:ln>
              <a:noFill/>
            </a:ln>
            <a:effectLst/>
          </c:spPr>
          <c:invertIfNegative val="0"/>
          <c:cat>
            <c:strRef>
              <c:f>FromPython!$A$55:$A$58</c:f>
              <c:strCache>
                <c:ptCount val="4"/>
                <c:pt idx="0">
                  <c:v>Yes</c:v>
                </c:pt>
                <c:pt idx="1">
                  <c:v>No</c:v>
                </c:pt>
                <c:pt idx="2">
                  <c:v>Not found</c:v>
                </c:pt>
                <c:pt idx="3">
                  <c:v>Not assessed</c:v>
                </c:pt>
              </c:strCache>
              <c:extLst/>
            </c:strRef>
          </c:cat>
          <c:val>
            <c:numRef>
              <c:f>FromPython!$B$55:$B$58</c:f>
              <c:numCache>
                <c:formatCode>General</c:formatCode>
                <c:ptCount val="4"/>
                <c:pt idx="0">
                  <c:v>0</c:v>
                </c:pt>
                <c:pt idx="1">
                  <c:v>40</c:v>
                </c:pt>
                <c:pt idx="2">
                  <c:v>7</c:v>
                </c:pt>
                <c:pt idx="3">
                  <c:v>1</c:v>
                </c:pt>
              </c:numCache>
              <c:extLst/>
            </c:numRef>
          </c:val>
          <c:extLst>
            <c:ext xmlns:c16="http://schemas.microsoft.com/office/drawing/2014/chart" uri="{C3380CC4-5D6E-409C-BE32-E72D297353CC}">
              <c16:uniqueId val="{00000000-D841-46DE-920E-2872CC38774E}"/>
            </c:ext>
          </c:extLst>
        </c:ser>
        <c:ser>
          <c:idx val="1"/>
          <c:order val="1"/>
          <c:tx>
            <c:strRef>
              <c:f>FromPython!$L$38</c:f>
              <c:strCache>
                <c:ptCount val="1"/>
                <c:pt idx="0">
                  <c:v>Not granted</c:v>
                </c:pt>
              </c:strCache>
            </c:strRef>
          </c:tx>
          <c:spPr>
            <a:solidFill>
              <a:schemeClr val="accent2"/>
            </a:solidFill>
            <a:ln>
              <a:noFill/>
            </a:ln>
            <a:effectLst/>
          </c:spPr>
          <c:invertIfNegative val="0"/>
          <c:cat>
            <c:strRef>
              <c:f>FromPython!$A$55:$A$58</c:f>
              <c:strCache>
                <c:ptCount val="4"/>
                <c:pt idx="0">
                  <c:v>Yes</c:v>
                </c:pt>
                <c:pt idx="1">
                  <c:v>No</c:v>
                </c:pt>
                <c:pt idx="2">
                  <c:v>Not found</c:v>
                </c:pt>
                <c:pt idx="3">
                  <c:v>Not assessed</c:v>
                </c:pt>
              </c:strCache>
              <c:extLst/>
            </c:strRef>
          </c:cat>
          <c:val>
            <c:numRef>
              <c:f>FromPython!$C$55:$C$58</c:f>
              <c:numCache>
                <c:formatCode>General</c:formatCode>
                <c:ptCount val="4"/>
                <c:pt idx="0">
                  <c:v>21</c:v>
                </c:pt>
                <c:pt idx="1">
                  <c:v>1</c:v>
                </c:pt>
                <c:pt idx="2">
                  <c:v>1</c:v>
                </c:pt>
                <c:pt idx="3">
                  <c:v>0</c:v>
                </c:pt>
              </c:numCache>
              <c:extLst/>
            </c:numRef>
          </c:val>
          <c:extLst>
            <c:ext xmlns:c16="http://schemas.microsoft.com/office/drawing/2014/chart" uri="{C3380CC4-5D6E-409C-BE32-E72D297353CC}">
              <c16:uniqueId val="{00000001-D841-46DE-920E-2872CC38774E}"/>
            </c:ext>
          </c:extLst>
        </c:ser>
        <c:dLbls>
          <c:showLegendKey val="0"/>
          <c:showVal val="0"/>
          <c:showCatName val="0"/>
          <c:showSerName val="0"/>
          <c:showPercent val="0"/>
          <c:showBubbleSize val="0"/>
        </c:dLbls>
        <c:gapWidth val="219"/>
        <c:overlap val="-27"/>
        <c:axId val="945079519"/>
        <c:axId val="945074239"/>
      </c:barChart>
      <c:catAx>
        <c:axId val="94507951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45074239"/>
        <c:crosses val="autoZero"/>
        <c:auto val="1"/>
        <c:lblAlgn val="ctr"/>
        <c:lblOffset val="100"/>
        <c:noMultiLvlLbl val="0"/>
      </c:catAx>
      <c:valAx>
        <c:axId val="94507423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4507951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kern="1200" spc="0" baseline="0" dirty="0">
                <a:solidFill>
                  <a:prstClr val="black">
                    <a:lumMod val="65000"/>
                    <a:lumOff val="35000"/>
                  </a:prstClr>
                </a:solidFill>
                <a:effectLst/>
              </a:rPr>
              <a:t>Litigation outcome by finding of dominant position</a:t>
            </a:r>
            <a:endParaRPr lang="en-US" sz="1400" b="0" i="0" u="none" strike="noStrike" kern="1200" spc="0" baseline="0" dirty="0">
              <a:solidFill>
                <a:prstClr val="black">
                  <a:lumMod val="65000"/>
                  <a:lumOff val="35000"/>
                </a:prstClr>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FromPython!$K$38</c:f>
              <c:strCache>
                <c:ptCount val="1"/>
                <c:pt idx="0">
                  <c:v>Injunction granted</c:v>
                </c:pt>
              </c:strCache>
            </c:strRef>
          </c:tx>
          <c:spPr>
            <a:solidFill>
              <a:schemeClr val="accent1"/>
            </a:solidFill>
            <a:ln>
              <a:noFill/>
            </a:ln>
            <a:effectLst/>
          </c:spPr>
          <c:invertIfNegative val="0"/>
          <c:cat>
            <c:strRef>
              <c:f>(FromPython!$A$48,FromPython!$A$50)</c:f>
              <c:strCache>
                <c:ptCount val="2"/>
                <c:pt idx="0">
                  <c:v>Yes</c:v>
                </c:pt>
                <c:pt idx="1">
                  <c:v>Not assessed</c:v>
                </c:pt>
              </c:strCache>
              <c:extLst/>
            </c:strRef>
          </c:cat>
          <c:val>
            <c:numRef>
              <c:f>(FromPython!$B$48,FromPython!$B$50)</c:f>
              <c:numCache>
                <c:formatCode>General</c:formatCode>
                <c:ptCount val="2"/>
                <c:pt idx="0">
                  <c:v>44</c:v>
                </c:pt>
                <c:pt idx="1">
                  <c:v>4</c:v>
                </c:pt>
              </c:numCache>
              <c:extLst/>
            </c:numRef>
          </c:val>
          <c:extLst>
            <c:ext xmlns:c16="http://schemas.microsoft.com/office/drawing/2014/chart" uri="{C3380CC4-5D6E-409C-BE32-E72D297353CC}">
              <c16:uniqueId val="{00000000-6073-4DD3-85C5-F832F4A3C088}"/>
            </c:ext>
          </c:extLst>
        </c:ser>
        <c:ser>
          <c:idx val="1"/>
          <c:order val="1"/>
          <c:tx>
            <c:strRef>
              <c:f>FromPython!$L$38</c:f>
              <c:strCache>
                <c:ptCount val="1"/>
                <c:pt idx="0">
                  <c:v>Not granted</c:v>
                </c:pt>
              </c:strCache>
            </c:strRef>
          </c:tx>
          <c:spPr>
            <a:solidFill>
              <a:schemeClr val="accent2"/>
            </a:solidFill>
            <a:ln>
              <a:noFill/>
            </a:ln>
            <a:effectLst/>
          </c:spPr>
          <c:invertIfNegative val="0"/>
          <c:cat>
            <c:strRef>
              <c:f>(FromPython!$A$48,FromPython!$A$50)</c:f>
              <c:strCache>
                <c:ptCount val="2"/>
                <c:pt idx="0">
                  <c:v>Yes</c:v>
                </c:pt>
                <c:pt idx="1">
                  <c:v>Not assessed</c:v>
                </c:pt>
              </c:strCache>
              <c:extLst/>
            </c:strRef>
          </c:cat>
          <c:val>
            <c:numRef>
              <c:f>(FromPython!$C$48,FromPython!$C$50)</c:f>
              <c:numCache>
                <c:formatCode>General</c:formatCode>
                <c:ptCount val="2"/>
                <c:pt idx="0">
                  <c:v>22</c:v>
                </c:pt>
                <c:pt idx="1">
                  <c:v>1</c:v>
                </c:pt>
              </c:numCache>
              <c:extLst/>
            </c:numRef>
          </c:val>
          <c:extLst>
            <c:ext xmlns:c16="http://schemas.microsoft.com/office/drawing/2014/chart" uri="{C3380CC4-5D6E-409C-BE32-E72D297353CC}">
              <c16:uniqueId val="{00000001-6073-4DD3-85C5-F832F4A3C088}"/>
            </c:ext>
          </c:extLst>
        </c:ser>
        <c:dLbls>
          <c:showLegendKey val="0"/>
          <c:showVal val="0"/>
          <c:showCatName val="0"/>
          <c:showSerName val="0"/>
          <c:showPercent val="0"/>
          <c:showBubbleSize val="0"/>
        </c:dLbls>
        <c:gapWidth val="219"/>
        <c:overlap val="-27"/>
        <c:axId val="940583599"/>
        <c:axId val="940600879"/>
      </c:barChart>
      <c:catAx>
        <c:axId val="94058359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40600879"/>
        <c:crosses val="autoZero"/>
        <c:auto val="1"/>
        <c:lblAlgn val="ctr"/>
        <c:lblOffset val="100"/>
        <c:noMultiLvlLbl val="0"/>
      </c:catAx>
      <c:valAx>
        <c:axId val="94060087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4058359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dirty="0">
                <a:effectLst/>
              </a:rPr>
              <a:t>Litigation outcome by finding of sufficient notice of infringement</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FromPython!$K$38</c:f>
              <c:strCache>
                <c:ptCount val="1"/>
                <c:pt idx="0">
                  <c:v>Injunction granted</c:v>
                </c:pt>
              </c:strCache>
            </c:strRef>
          </c:tx>
          <c:spPr>
            <a:solidFill>
              <a:schemeClr val="accent1"/>
            </a:solidFill>
            <a:ln>
              <a:noFill/>
            </a:ln>
            <a:effectLst/>
          </c:spPr>
          <c:invertIfNegative val="0"/>
          <c:cat>
            <c:strRef>
              <c:f>FromPython!$A$63:$A$65</c:f>
              <c:strCache>
                <c:ptCount val="3"/>
                <c:pt idx="0">
                  <c:v>Yes</c:v>
                </c:pt>
                <c:pt idx="1">
                  <c:v>Not found</c:v>
                </c:pt>
                <c:pt idx="2">
                  <c:v>Not assessed</c:v>
                </c:pt>
              </c:strCache>
              <c:extLst/>
            </c:strRef>
          </c:cat>
          <c:val>
            <c:numRef>
              <c:f>FromPython!$B$63:$B$65</c:f>
              <c:numCache>
                <c:formatCode>General</c:formatCode>
                <c:ptCount val="3"/>
                <c:pt idx="0">
                  <c:v>48</c:v>
                </c:pt>
                <c:pt idx="1">
                  <c:v>0</c:v>
                </c:pt>
                <c:pt idx="2">
                  <c:v>0</c:v>
                </c:pt>
              </c:numCache>
              <c:extLst/>
            </c:numRef>
          </c:val>
          <c:extLst>
            <c:ext xmlns:c16="http://schemas.microsoft.com/office/drawing/2014/chart" uri="{C3380CC4-5D6E-409C-BE32-E72D297353CC}">
              <c16:uniqueId val="{00000000-96D4-4E4C-83C6-49B97E455BDB}"/>
            </c:ext>
          </c:extLst>
        </c:ser>
        <c:ser>
          <c:idx val="1"/>
          <c:order val="1"/>
          <c:tx>
            <c:strRef>
              <c:f>FromPython!$L$38</c:f>
              <c:strCache>
                <c:ptCount val="1"/>
                <c:pt idx="0">
                  <c:v>Not granted</c:v>
                </c:pt>
              </c:strCache>
            </c:strRef>
          </c:tx>
          <c:spPr>
            <a:solidFill>
              <a:schemeClr val="accent2"/>
            </a:solidFill>
            <a:ln>
              <a:noFill/>
            </a:ln>
            <a:effectLst/>
          </c:spPr>
          <c:invertIfNegative val="0"/>
          <c:cat>
            <c:strRef>
              <c:f>FromPython!$A$63:$A$65</c:f>
              <c:strCache>
                <c:ptCount val="3"/>
                <c:pt idx="0">
                  <c:v>Yes</c:v>
                </c:pt>
                <c:pt idx="1">
                  <c:v>Not found</c:v>
                </c:pt>
                <c:pt idx="2">
                  <c:v>Not assessed</c:v>
                </c:pt>
              </c:strCache>
              <c:extLst/>
            </c:strRef>
          </c:cat>
          <c:val>
            <c:numRef>
              <c:f>FromPython!$C$63:$C$65</c:f>
              <c:numCache>
                <c:formatCode>General</c:formatCode>
                <c:ptCount val="3"/>
                <c:pt idx="0">
                  <c:v>21</c:v>
                </c:pt>
                <c:pt idx="1">
                  <c:v>1</c:v>
                </c:pt>
                <c:pt idx="2">
                  <c:v>1</c:v>
                </c:pt>
              </c:numCache>
              <c:extLst/>
            </c:numRef>
          </c:val>
          <c:extLst>
            <c:ext xmlns:c16="http://schemas.microsoft.com/office/drawing/2014/chart" uri="{C3380CC4-5D6E-409C-BE32-E72D297353CC}">
              <c16:uniqueId val="{00000001-96D4-4E4C-83C6-49B97E455BDB}"/>
            </c:ext>
          </c:extLst>
        </c:ser>
        <c:dLbls>
          <c:showLegendKey val="0"/>
          <c:showVal val="0"/>
          <c:showCatName val="0"/>
          <c:showSerName val="0"/>
          <c:showPercent val="0"/>
          <c:showBubbleSize val="0"/>
        </c:dLbls>
        <c:gapWidth val="219"/>
        <c:overlap val="-27"/>
        <c:axId val="26537200"/>
        <c:axId val="26517520"/>
      </c:barChart>
      <c:catAx>
        <c:axId val="265372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6517520"/>
        <c:crosses val="autoZero"/>
        <c:auto val="1"/>
        <c:lblAlgn val="ctr"/>
        <c:lblOffset val="100"/>
        <c:noMultiLvlLbl val="0"/>
      </c:catAx>
      <c:valAx>
        <c:axId val="2651752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653720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dirty="0">
                <a:effectLst/>
              </a:rPr>
              <a:t>Litigation outcome by finding of alleged infringer’s willingness to license</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FromPython!$K$38</c:f>
              <c:strCache>
                <c:ptCount val="1"/>
                <c:pt idx="0">
                  <c:v>Injunction granted</c:v>
                </c:pt>
              </c:strCache>
            </c:strRef>
          </c:tx>
          <c:spPr>
            <a:solidFill>
              <a:schemeClr val="accent1"/>
            </a:solidFill>
            <a:ln>
              <a:noFill/>
            </a:ln>
            <a:effectLst/>
          </c:spPr>
          <c:invertIfNegative val="0"/>
          <c:cat>
            <c:strRef>
              <c:f>FromPython!$A$70:$A$73</c:f>
              <c:strCache>
                <c:ptCount val="4"/>
                <c:pt idx="0">
                  <c:v>Yes</c:v>
                </c:pt>
                <c:pt idx="1">
                  <c:v>No</c:v>
                </c:pt>
                <c:pt idx="2">
                  <c:v>Not found</c:v>
                </c:pt>
                <c:pt idx="3">
                  <c:v>Not assessed</c:v>
                </c:pt>
              </c:strCache>
              <c:extLst/>
            </c:strRef>
          </c:cat>
          <c:val>
            <c:numRef>
              <c:f>FromPython!$B$70:$B$73</c:f>
              <c:numCache>
                <c:formatCode>General</c:formatCode>
                <c:ptCount val="4"/>
                <c:pt idx="0">
                  <c:v>13</c:v>
                </c:pt>
                <c:pt idx="1">
                  <c:v>33</c:v>
                </c:pt>
                <c:pt idx="2">
                  <c:v>0</c:v>
                </c:pt>
                <c:pt idx="3">
                  <c:v>2</c:v>
                </c:pt>
              </c:numCache>
              <c:extLst/>
            </c:numRef>
          </c:val>
          <c:extLst>
            <c:ext xmlns:c16="http://schemas.microsoft.com/office/drawing/2014/chart" uri="{C3380CC4-5D6E-409C-BE32-E72D297353CC}">
              <c16:uniqueId val="{00000000-7B79-42F9-B653-1774157BBC40}"/>
            </c:ext>
          </c:extLst>
        </c:ser>
        <c:ser>
          <c:idx val="1"/>
          <c:order val="1"/>
          <c:tx>
            <c:strRef>
              <c:f>FromPython!$L$38</c:f>
              <c:strCache>
                <c:ptCount val="1"/>
                <c:pt idx="0">
                  <c:v>Not granted</c:v>
                </c:pt>
              </c:strCache>
            </c:strRef>
          </c:tx>
          <c:spPr>
            <a:solidFill>
              <a:schemeClr val="accent2"/>
            </a:solidFill>
            <a:ln>
              <a:noFill/>
            </a:ln>
            <a:effectLst/>
          </c:spPr>
          <c:invertIfNegative val="0"/>
          <c:cat>
            <c:strRef>
              <c:f>FromPython!$A$70:$A$73</c:f>
              <c:strCache>
                <c:ptCount val="4"/>
                <c:pt idx="0">
                  <c:v>Yes</c:v>
                </c:pt>
                <c:pt idx="1">
                  <c:v>No</c:v>
                </c:pt>
                <c:pt idx="2">
                  <c:v>Not found</c:v>
                </c:pt>
                <c:pt idx="3">
                  <c:v>Not assessed</c:v>
                </c:pt>
              </c:strCache>
              <c:extLst/>
            </c:strRef>
          </c:cat>
          <c:val>
            <c:numRef>
              <c:f>FromPython!$C$70:$C$73</c:f>
              <c:numCache>
                <c:formatCode>General</c:formatCode>
                <c:ptCount val="4"/>
                <c:pt idx="0">
                  <c:v>20</c:v>
                </c:pt>
                <c:pt idx="1">
                  <c:v>1</c:v>
                </c:pt>
                <c:pt idx="2">
                  <c:v>1</c:v>
                </c:pt>
                <c:pt idx="3">
                  <c:v>1</c:v>
                </c:pt>
              </c:numCache>
              <c:extLst/>
            </c:numRef>
          </c:val>
          <c:extLst>
            <c:ext xmlns:c16="http://schemas.microsoft.com/office/drawing/2014/chart" uri="{C3380CC4-5D6E-409C-BE32-E72D297353CC}">
              <c16:uniqueId val="{00000001-7B79-42F9-B653-1774157BBC40}"/>
            </c:ext>
          </c:extLst>
        </c:ser>
        <c:dLbls>
          <c:showLegendKey val="0"/>
          <c:showVal val="0"/>
          <c:showCatName val="0"/>
          <c:showSerName val="0"/>
          <c:showPercent val="0"/>
          <c:showBubbleSize val="0"/>
        </c:dLbls>
        <c:gapWidth val="219"/>
        <c:overlap val="-27"/>
        <c:axId val="26498320"/>
        <c:axId val="26505040"/>
      </c:barChart>
      <c:catAx>
        <c:axId val="264983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6505040"/>
        <c:crosses val="autoZero"/>
        <c:auto val="1"/>
        <c:lblAlgn val="ctr"/>
        <c:lblOffset val="100"/>
        <c:noMultiLvlLbl val="0"/>
      </c:catAx>
      <c:valAx>
        <c:axId val="265050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649832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kern="1200" spc="0" baseline="0" dirty="0">
                <a:solidFill>
                  <a:prstClr val="black">
                    <a:lumMod val="65000"/>
                    <a:lumOff val="35000"/>
                  </a:prstClr>
                </a:solidFill>
                <a:effectLst/>
              </a:rPr>
              <a:t>Litigation outcome by finding of FRAND offer</a:t>
            </a:r>
            <a:endParaRPr lang="en-US" sz="1400" b="0" i="0" u="none" strike="noStrike" kern="1200" spc="0" baseline="0" dirty="0">
              <a:solidFill>
                <a:prstClr val="black">
                  <a:lumMod val="65000"/>
                  <a:lumOff val="35000"/>
                </a:prstClr>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FromPython!$K$38</c:f>
              <c:strCache>
                <c:ptCount val="1"/>
                <c:pt idx="0">
                  <c:v>Injunction granted</c:v>
                </c:pt>
              </c:strCache>
            </c:strRef>
          </c:tx>
          <c:spPr>
            <a:solidFill>
              <a:schemeClr val="accent1"/>
            </a:solidFill>
            <a:ln>
              <a:noFill/>
            </a:ln>
            <a:effectLst/>
          </c:spPr>
          <c:invertIfNegative val="0"/>
          <c:cat>
            <c:strRef>
              <c:f>(FromPython!$A$78:$A$79,FromPython!$A$81)</c:f>
              <c:strCache>
                <c:ptCount val="3"/>
                <c:pt idx="0">
                  <c:v>Yes</c:v>
                </c:pt>
                <c:pt idx="1">
                  <c:v>No</c:v>
                </c:pt>
                <c:pt idx="2">
                  <c:v>Not assessed</c:v>
                </c:pt>
              </c:strCache>
              <c:extLst/>
            </c:strRef>
          </c:cat>
          <c:val>
            <c:numRef>
              <c:f>(FromPython!$B$78:$B$79,FromPython!$B$81)</c:f>
              <c:numCache>
                <c:formatCode>General</c:formatCode>
                <c:ptCount val="3"/>
                <c:pt idx="0">
                  <c:v>25</c:v>
                </c:pt>
                <c:pt idx="1">
                  <c:v>0</c:v>
                </c:pt>
                <c:pt idx="2">
                  <c:v>23</c:v>
                </c:pt>
              </c:numCache>
              <c:extLst/>
            </c:numRef>
          </c:val>
          <c:extLst>
            <c:ext xmlns:c16="http://schemas.microsoft.com/office/drawing/2014/chart" uri="{C3380CC4-5D6E-409C-BE32-E72D297353CC}">
              <c16:uniqueId val="{00000000-724D-4A64-8DFB-896193A9342D}"/>
            </c:ext>
          </c:extLst>
        </c:ser>
        <c:ser>
          <c:idx val="1"/>
          <c:order val="1"/>
          <c:tx>
            <c:strRef>
              <c:f>FromPython!$L$38</c:f>
              <c:strCache>
                <c:ptCount val="1"/>
                <c:pt idx="0">
                  <c:v>Not granted</c:v>
                </c:pt>
              </c:strCache>
            </c:strRef>
          </c:tx>
          <c:spPr>
            <a:solidFill>
              <a:schemeClr val="accent2"/>
            </a:solidFill>
            <a:ln>
              <a:noFill/>
            </a:ln>
            <a:effectLst/>
          </c:spPr>
          <c:invertIfNegative val="0"/>
          <c:cat>
            <c:strRef>
              <c:f>(FromPython!$A$78:$A$79,FromPython!$A$81)</c:f>
              <c:strCache>
                <c:ptCount val="3"/>
                <c:pt idx="0">
                  <c:v>Yes</c:v>
                </c:pt>
                <c:pt idx="1">
                  <c:v>No</c:v>
                </c:pt>
                <c:pt idx="2">
                  <c:v>Not assessed</c:v>
                </c:pt>
              </c:strCache>
              <c:extLst/>
            </c:strRef>
          </c:cat>
          <c:val>
            <c:numRef>
              <c:f>(FromPython!$C$78:$C$79,FromPython!$C$81)</c:f>
              <c:numCache>
                <c:formatCode>General</c:formatCode>
                <c:ptCount val="3"/>
                <c:pt idx="0">
                  <c:v>1</c:v>
                </c:pt>
                <c:pt idx="1">
                  <c:v>20</c:v>
                </c:pt>
                <c:pt idx="2">
                  <c:v>2</c:v>
                </c:pt>
              </c:numCache>
              <c:extLst/>
            </c:numRef>
          </c:val>
          <c:extLst>
            <c:ext xmlns:c16="http://schemas.microsoft.com/office/drawing/2014/chart" uri="{C3380CC4-5D6E-409C-BE32-E72D297353CC}">
              <c16:uniqueId val="{00000001-724D-4A64-8DFB-896193A9342D}"/>
            </c:ext>
          </c:extLst>
        </c:ser>
        <c:dLbls>
          <c:showLegendKey val="0"/>
          <c:showVal val="0"/>
          <c:showCatName val="0"/>
          <c:showSerName val="0"/>
          <c:showPercent val="0"/>
          <c:showBubbleSize val="0"/>
        </c:dLbls>
        <c:gapWidth val="219"/>
        <c:overlap val="-27"/>
        <c:axId val="26534320"/>
        <c:axId val="26516080"/>
      </c:barChart>
      <c:catAx>
        <c:axId val="265343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6516080"/>
        <c:crosses val="autoZero"/>
        <c:auto val="1"/>
        <c:lblAlgn val="ctr"/>
        <c:lblOffset val="100"/>
        <c:noMultiLvlLbl val="0"/>
      </c:catAx>
      <c:valAx>
        <c:axId val="265160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653432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dirty="0">
                <a:effectLst/>
              </a:rPr>
              <a:t>Litigation outcome by finding of offer complying with formal FRAND requirements</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FromPython!$K$38</c:f>
              <c:strCache>
                <c:ptCount val="1"/>
                <c:pt idx="0">
                  <c:v>Injunction granted</c:v>
                </c:pt>
              </c:strCache>
            </c:strRef>
          </c:tx>
          <c:spPr>
            <a:solidFill>
              <a:schemeClr val="accent1"/>
            </a:solidFill>
            <a:ln>
              <a:noFill/>
            </a:ln>
            <a:effectLst/>
          </c:spPr>
          <c:invertIfNegative val="0"/>
          <c:cat>
            <c:strRef>
              <c:f>(FromPython!$A$86,FromPython!$A$88:$A$90)</c:f>
              <c:strCache>
                <c:ptCount val="4"/>
                <c:pt idx="0">
                  <c:v>Yes</c:v>
                </c:pt>
                <c:pt idx="1">
                  <c:v>No</c:v>
                </c:pt>
                <c:pt idx="2">
                  <c:v>Not found</c:v>
                </c:pt>
                <c:pt idx="3">
                  <c:v>Not assessed</c:v>
                </c:pt>
              </c:strCache>
              <c:extLst/>
            </c:strRef>
          </c:cat>
          <c:val>
            <c:numRef>
              <c:f>(FromPython!$B$86,FromPython!$B$88:$B$90)</c:f>
              <c:numCache>
                <c:formatCode>General</c:formatCode>
                <c:ptCount val="4"/>
                <c:pt idx="0">
                  <c:v>24</c:v>
                </c:pt>
                <c:pt idx="1">
                  <c:v>0</c:v>
                </c:pt>
                <c:pt idx="2">
                  <c:v>1</c:v>
                </c:pt>
                <c:pt idx="3">
                  <c:v>23</c:v>
                </c:pt>
              </c:numCache>
              <c:extLst/>
            </c:numRef>
          </c:val>
          <c:extLst>
            <c:ext xmlns:c16="http://schemas.microsoft.com/office/drawing/2014/chart" uri="{C3380CC4-5D6E-409C-BE32-E72D297353CC}">
              <c16:uniqueId val="{00000000-27BA-44AC-8536-E83A209F9D4F}"/>
            </c:ext>
          </c:extLst>
        </c:ser>
        <c:ser>
          <c:idx val="1"/>
          <c:order val="1"/>
          <c:tx>
            <c:strRef>
              <c:f>FromPython!$L$38</c:f>
              <c:strCache>
                <c:ptCount val="1"/>
                <c:pt idx="0">
                  <c:v>Not granted</c:v>
                </c:pt>
              </c:strCache>
            </c:strRef>
          </c:tx>
          <c:spPr>
            <a:solidFill>
              <a:schemeClr val="accent2"/>
            </a:solidFill>
            <a:ln>
              <a:noFill/>
            </a:ln>
            <a:effectLst/>
          </c:spPr>
          <c:invertIfNegative val="0"/>
          <c:cat>
            <c:strRef>
              <c:f>(FromPython!$A$86,FromPython!$A$88:$A$90)</c:f>
              <c:strCache>
                <c:ptCount val="4"/>
                <c:pt idx="0">
                  <c:v>Yes</c:v>
                </c:pt>
                <c:pt idx="1">
                  <c:v>No</c:v>
                </c:pt>
                <c:pt idx="2">
                  <c:v>Not found</c:v>
                </c:pt>
                <c:pt idx="3">
                  <c:v>Not assessed</c:v>
                </c:pt>
              </c:strCache>
              <c:extLst/>
            </c:strRef>
          </c:cat>
          <c:val>
            <c:numRef>
              <c:f>(FromPython!$C$86,FromPython!$C$88:$C$90)</c:f>
              <c:numCache>
                <c:formatCode>General</c:formatCode>
                <c:ptCount val="4"/>
                <c:pt idx="0">
                  <c:v>6</c:v>
                </c:pt>
                <c:pt idx="1">
                  <c:v>14</c:v>
                </c:pt>
                <c:pt idx="2">
                  <c:v>1</c:v>
                </c:pt>
                <c:pt idx="3">
                  <c:v>2</c:v>
                </c:pt>
              </c:numCache>
              <c:extLst/>
            </c:numRef>
          </c:val>
          <c:extLst>
            <c:ext xmlns:c16="http://schemas.microsoft.com/office/drawing/2014/chart" uri="{C3380CC4-5D6E-409C-BE32-E72D297353CC}">
              <c16:uniqueId val="{00000001-27BA-44AC-8536-E83A209F9D4F}"/>
            </c:ext>
          </c:extLst>
        </c:ser>
        <c:dLbls>
          <c:showLegendKey val="0"/>
          <c:showVal val="0"/>
          <c:showCatName val="0"/>
          <c:showSerName val="0"/>
          <c:showPercent val="0"/>
          <c:showBubbleSize val="0"/>
        </c:dLbls>
        <c:gapWidth val="219"/>
        <c:overlap val="-27"/>
        <c:axId val="26518960"/>
        <c:axId val="26497360"/>
      </c:barChart>
      <c:catAx>
        <c:axId val="265189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6497360"/>
        <c:crosses val="autoZero"/>
        <c:auto val="1"/>
        <c:lblAlgn val="ctr"/>
        <c:lblOffset val="100"/>
        <c:noMultiLvlLbl val="0"/>
      </c:catAx>
      <c:valAx>
        <c:axId val="2649736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651896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dirty="0">
                <a:effectLst/>
              </a:rPr>
              <a:t>Litigation outcome by finding of offer complying with substantive FRAND requirements</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FromPython!$K$38</c:f>
              <c:strCache>
                <c:ptCount val="1"/>
                <c:pt idx="0">
                  <c:v>Injunction granted</c:v>
                </c:pt>
              </c:strCache>
            </c:strRef>
          </c:tx>
          <c:spPr>
            <a:solidFill>
              <a:schemeClr val="accent1"/>
            </a:solidFill>
            <a:ln>
              <a:noFill/>
            </a:ln>
            <a:effectLst/>
          </c:spPr>
          <c:invertIfNegative val="0"/>
          <c:cat>
            <c:strRef>
              <c:f>FromPython!$A$95:$A$98</c:f>
              <c:strCache>
                <c:ptCount val="4"/>
                <c:pt idx="0">
                  <c:v>Yes</c:v>
                </c:pt>
                <c:pt idx="1">
                  <c:v>No</c:v>
                </c:pt>
                <c:pt idx="2">
                  <c:v>Not found</c:v>
                </c:pt>
                <c:pt idx="3">
                  <c:v>Not assessed</c:v>
                </c:pt>
              </c:strCache>
              <c:extLst/>
            </c:strRef>
          </c:cat>
          <c:val>
            <c:numRef>
              <c:f>FromPython!$B$95:$B$98</c:f>
              <c:numCache>
                <c:formatCode>General</c:formatCode>
                <c:ptCount val="4"/>
                <c:pt idx="0">
                  <c:v>22</c:v>
                </c:pt>
                <c:pt idx="1">
                  <c:v>0</c:v>
                </c:pt>
                <c:pt idx="2">
                  <c:v>2</c:v>
                </c:pt>
                <c:pt idx="3">
                  <c:v>24</c:v>
                </c:pt>
              </c:numCache>
              <c:extLst/>
            </c:numRef>
          </c:val>
          <c:extLst>
            <c:ext xmlns:c16="http://schemas.microsoft.com/office/drawing/2014/chart" uri="{C3380CC4-5D6E-409C-BE32-E72D297353CC}">
              <c16:uniqueId val="{00000000-0C98-4081-8D61-E93F25252C02}"/>
            </c:ext>
          </c:extLst>
        </c:ser>
        <c:ser>
          <c:idx val="1"/>
          <c:order val="1"/>
          <c:tx>
            <c:strRef>
              <c:f>FromPython!$L$38</c:f>
              <c:strCache>
                <c:ptCount val="1"/>
                <c:pt idx="0">
                  <c:v>Not granted</c:v>
                </c:pt>
              </c:strCache>
            </c:strRef>
          </c:tx>
          <c:spPr>
            <a:solidFill>
              <a:schemeClr val="accent2"/>
            </a:solidFill>
            <a:ln>
              <a:noFill/>
            </a:ln>
            <a:effectLst/>
          </c:spPr>
          <c:invertIfNegative val="0"/>
          <c:cat>
            <c:strRef>
              <c:f>FromPython!$A$95:$A$98</c:f>
              <c:strCache>
                <c:ptCount val="4"/>
                <c:pt idx="0">
                  <c:v>Yes</c:v>
                </c:pt>
                <c:pt idx="1">
                  <c:v>No</c:v>
                </c:pt>
                <c:pt idx="2">
                  <c:v>Not found</c:v>
                </c:pt>
                <c:pt idx="3">
                  <c:v>Not assessed</c:v>
                </c:pt>
              </c:strCache>
              <c:extLst/>
            </c:strRef>
          </c:cat>
          <c:val>
            <c:numRef>
              <c:f>FromPython!$C$95:$C$98</c:f>
              <c:numCache>
                <c:formatCode>General</c:formatCode>
                <c:ptCount val="4"/>
                <c:pt idx="0">
                  <c:v>1</c:v>
                </c:pt>
                <c:pt idx="1">
                  <c:v>6</c:v>
                </c:pt>
                <c:pt idx="2">
                  <c:v>1</c:v>
                </c:pt>
                <c:pt idx="3">
                  <c:v>15</c:v>
                </c:pt>
              </c:numCache>
              <c:extLst/>
            </c:numRef>
          </c:val>
          <c:extLst>
            <c:ext xmlns:c16="http://schemas.microsoft.com/office/drawing/2014/chart" uri="{C3380CC4-5D6E-409C-BE32-E72D297353CC}">
              <c16:uniqueId val="{00000001-0C98-4081-8D61-E93F25252C02}"/>
            </c:ext>
          </c:extLst>
        </c:ser>
        <c:dLbls>
          <c:showLegendKey val="0"/>
          <c:showVal val="0"/>
          <c:showCatName val="0"/>
          <c:showSerName val="0"/>
          <c:showPercent val="0"/>
          <c:showBubbleSize val="0"/>
        </c:dLbls>
        <c:gapWidth val="219"/>
        <c:overlap val="-27"/>
        <c:axId val="32821216"/>
        <c:axId val="32816416"/>
      </c:barChart>
      <c:catAx>
        <c:axId val="328212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2816416"/>
        <c:crosses val="autoZero"/>
        <c:auto val="1"/>
        <c:lblAlgn val="ctr"/>
        <c:lblOffset val="100"/>
        <c:noMultiLvlLbl val="0"/>
      </c:catAx>
      <c:valAx>
        <c:axId val="3281641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282121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333">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65000"/>
        <a:lumOff val="3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50000"/>
            <a:lumOff val="50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ln w="19050">
        <a:solidFill>
          <a:schemeClr val="lt1"/>
        </a:solidFill>
      </a:ln>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40" b="0" kern="1200" spc="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omments/modernComment_10A_C659895E.xml><?xml version="1.0" encoding="utf-8"?>
<p188:cmLst xmlns:a="http://schemas.openxmlformats.org/drawingml/2006/main" xmlns:r="http://schemas.openxmlformats.org/officeDocument/2006/relationships" xmlns:p188="http://schemas.microsoft.com/office/powerpoint/2018/8/main">
  <p188:cm id="{0EE4083F-E6EA-4B9D-A206-52C656F47BA1}" authorId="{7A9F9252-3D97-9E11-22C8-9AD8F05460E5}" created="2024-04-21T22:49:55.073">
    <ac:deMkLst xmlns:ac="http://schemas.microsoft.com/office/drawing/2013/main/command">
      <pc:docMk xmlns:pc="http://schemas.microsoft.com/office/powerpoint/2013/main/command"/>
      <pc:sldMk xmlns:pc="http://schemas.microsoft.com/office/powerpoint/2013/main/command" cId="3327756638" sldId="266"/>
      <ac:graphicFrameMk id="4" creationId="{6092668B-2B05-973B-A5E8-246677A31F21}"/>
    </ac:deMkLst>
    <p188:txBody>
      <a:bodyPr/>
      <a:lstStyle/>
      <a:p>
        <a:r>
          <a:rPr lang="en-US"/>
          <a:t>Maybe we should only keep this one</a:t>
        </a:r>
      </a:p>
    </p188:txBody>
  </p188:cm>
</p188:cmLst>
</file>

<file path=ppt/comments/modernComment_10C_183C6A2E.xml><?xml version="1.0" encoding="utf-8"?>
<p188:cmLst xmlns:a="http://schemas.openxmlformats.org/drawingml/2006/main" xmlns:r="http://schemas.openxmlformats.org/officeDocument/2006/relationships" xmlns:p188="http://schemas.microsoft.com/office/powerpoint/2018/8/main">
  <p188:cm id="{94D36829-EDCE-4930-A130-2487535EE917}" authorId="{7A9F9252-3D97-9E11-22C8-9AD8F05460E5}" created="2024-04-21T22:56:45.426">
    <ac:deMkLst xmlns:ac="http://schemas.microsoft.com/office/drawing/2013/main/command">
      <pc:docMk xmlns:pc="http://schemas.microsoft.com/office/powerpoint/2013/main/command"/>
      <pc:sldMk xmlns:pc="http://schemas.microsoft.com/office/powerpoint/2013/main/command" cId="406612526" sldId="268"/>
      <ac:graphicFrameMk id="12" creationId="{B5CB4AC6-26B7-C4DC-14B1-4D8A47B45F8F}"/>
    </ac:deMkLst>
    <p188:txBody>
      <a:bodyPr/>
      <a:lstStyle/>
      <a:p>
        <a:r>
          <a:rPr lang="en-US"/>
          <a:t>Or should we show the one which excludes the transition cases?
With that, the orange bar for Mannheim is taller than the blue one (see latest version of the docx for reference, fig 3b.</a:t>
        </a:r>
      </a:p>
    </p188:txBody>
  </p188:cm>
</p188:cmLst>
</file>

<file path=ppt/comments/modernComment_10E_86C081EA.xml><?xml version="1.0" encoding="utf-8"?>
<p188:cmLst xmlns:a="http://schemas.openxmlformats.org/drawingml/2006/main" xmlns:r="http://schemas.openxmlformats.org/officeDocument/2006/relationships" xmlns:p188="http://schemas.microsoft.com/office/powerpoint/2018/8/main">
  <p188:cm id="{398D03A2-04D1-4B24-9541-7C9B3DF224B1}" authorId="{7A9F9252-3D97-9E11-22C8-9AD8F05460E5}" created="2024-04-21T22:58:50.215">
    <ac:deMkLst xmlns:ac="http://schemas.microsoft.com/office/drawing/2013/main/command">
      <pc:docMk xmlns:pc="http://schemas.microsoft.com/office/powerpoint/2013/main/command"/>
      <pc:sldMk xmlns:pc="http://schemas.microsoft.com/office/powerpoint/2013/main/command" cId="2260763114" sldId="270"/>
      <ac:graphicFrameMk id="11" creationId="{0B731F7C-E529-B3E0-29D3-74B8958748D4}"/>
    </ac:deMkLst>
    <p188:txBody>
      <a:bodyPr/>
      <a:lstStyle/>
      <a:p>
        <a:r>
          <a:rPr lang="en-US"/>
          <a:t>I thought that contact was better than first offer, that would be Fig 7 in the docx.</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567D6-E925-D653-61A6-1CFCFDEA069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7ECCEE2-283F-B4E5-E7A0-B6EA68BF7A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1FB8097-9694-FF56-3D7A-92AAA94F2BBC}"/>
              </a:ext>
            </a:extLst>
          </p:cNvPr>
          <p:cNvSpPr>
            <a:spLocks noGrp="1"/>
          </p:cNvSpPr>
          <p:nvPr>
            <p:ph type="dt" sz="half" idx="10"/>
          </p:nvPr>
        </p:nvSpPr>
        <p:spPr/>
        <p:txBody>
          <a:bodyPr/>
          <a:lstStyle/>
          <a:p>
            <a:fld id="{634258E6-4831-47BC-8FC5-96158FD403F1}" type="datetimeFigureOut">
              <a:rPr lang="en-US" smtClean="0"/>
              <a:t>4/22/2024</a:t>
            </a:fld>
            <a:endParaRPr lang="en-US"/>
          </a:p>
        </p:txBody>
      </p:sp>
      <p:sp>
        <p:nvSpPr>
          <p:cNvPr id="5" name="Footer Placeholder 4">
            <a:extLst>
              <a:ext uri="{FF2B5EF4-FFF2-40B4-BE49-F238E27FC236}">
                <a16:creationId xmlns:a16="http://schemas.microsoft.com/office/drawing/2014/main" id="{6586A47F-A195-BB15-2F5E-053F6E8CA4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75081E-4261-DE0F-2B74-E401A390B8C0}"/>
              </a:ext>
            </a:extLst>
          </p:cNvPr>
          <p:cNvSpPr>
            <a:spLocks noGrp="1"/>
          </p:cNvSpPr>
          <p:nvPr>
            <p:ph type="sldNum" sz="quarter" idx="12"/>
          </p:nvPr>
        </p:nvSpPr>
        <p:spPr/>
        <p:txBody>
          <a:bodyPr/>
          <a:lstStyle/>
          <a:p>
            <a:fld id="{849497D9-6292-437D-8635-EF26BE7AFD26}" type="slidenum">
              <a:rPr lang="en-US" smtClean="0"/>
              <a:t>‹#›</a:t>
            </a:fld>
            <a:endParaRPr lang="en-US"/>
          </a:p>
        </p:txBody>
      </p:sp>
    </p:spTree>
    <p:extLst>
      <p:ext uri="{BB962C8B-B14F-4D97-AF65-F5344CB8AC3E}">
        <p14:creationId xmlns:p14="http://schemas.microsoft.com/office/powerpoint/2010/main" val="2592312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EEAB5-80DB-A4B6-808F-7494EB67A28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4A4445A-992D-788B-36A6-4BFF0CB0828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399875-7856-BBF1-6978-295D853A7996}"/>
              </a:ext>
            </a:extLst>
          </p:cNvPr>
          <p:cNvSpPr>
            <a:spLocks noGrp="1"/>
          </p:cNvSpPr>
          <p:nvPr>
            <p:ph type="dt" sz="half" idx="10"/>
          </p:nvPr>
        </p:nvSpPr>
        <p:spPr/>
        <p:txBody>
          <a:bodyPr/>
          <a:lstStyle/>
          <a:p>
            <a:fld id="{634258E6-4831-47BC-8FC5-96158FD403F1}" type="datetimeFigureOut">
              <a:rPr lang="en-US" smtClean="0"/>
              <a:t>4/22/2024</a:t>
            </a:fld>
            <a:endParaRPr lang="en-US"/>
          </a:p>
        </p:txBody>
      </p:sp>
      <p:sp>
        <p:nvSpPr>
          <p:cNvPr id="5" name="Footer Placeholder 4">
            <a:extLst>
              <a:ext uri="{FF2B5EF4-FFF2-40B4-BE49-F238E27FC236}">
                <a16:creationId xmlns:a16="http://schemas.microsoft.com/office/drawing/2014/main" id="{817D004B-8EBF-C899-5492-E7AD1C0AE4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3D0268-1106-EFED-9DDD-2371D9B29BB1}"/>
              </a:ext>
            </a:extLst>
          </p:cNvPr>
          <p:cNvSpPr>
            <a:spLocks noGrp="1"/>
          </p:cNvSpPr>
          <p:nvPr>
            <p:ph type="sldNum" sz="quarter" idx="12"/>
          </p:nvPr>
        </p:nvSpPr>
        <p:spPr/>
        <p:txBody>
          <a:bodyPr/>
          <a:lstStyle/>
          <a:p>
            <a:fld id="{849497D9-6292-437D-8635-EF26BE7AFD26}" type="slidenum">
              <a:rPr lang="en-US" smtClean="0"/>
              <a:t>‹#›</a:t>
            </a:fld>
            <a:endParaRPr lang="en-US"/>
          </a:p>
        </p:txBody>
      </p:sp>
    </p:spTree>
    <p:extLst>
      <p:ext uri="{BB962C8B-B14F-4D97-AF65-F5344CB8AC3E}">
        <p14:creationId xmlns:p14="http://schemas.microsoft.com/office/powerpoint/2010/main" val="35939175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96AB7-652D-DEFD-4811-37F6DF300EC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4BEABBE-6252-E424-8D33-0A0392B94E2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84CC3C3-0114-AC54-95A1-2BBF28178FF1}"/>
              </a:ext>
            </a:extLst>
          </p:cNvPr>
          <p:cNvSpPr>
            <a:spLocks noGrp="1"/>
          </p:cNvSpPr>
          <p:nvPr>
            <p:ph type="dt" sz="half" idx="10"/>
          </p:nvPr>
        </p:nvSpPr>
        <p:spPr/>
        <p:txBody>
          <a:bodyPr/>
          <a:lstStyle/>
          <a:p>
            <a:fld id="{634258E6-4831-47BC-8FC5-96158FD403F1}" type="datetimeFigureOut">
              <a:rPr lang="en-US" smtClean="0"/>
              <a:t>4/22/2024</a:t>
            </a:fld>
            <a:endParaRPr lang="en-US"/>
          </a:p>
        </p:txBody>
      </p:sp>
      <p:sp>
        <p:nvSpPr>
          <p:cNvPr id="5" name="Footer Placeholder 4">
            <a:extLst>
              <a:ext uri="{FF2B5EF4-FFF2-40B4-BE49-F238E27FC236}">
                <a16:creationId xmlns:a16="http://schemas.microsoft.com/office/drawing/2014/main" id="{83E771B5-23BF-163F-B251-5CACBCCEAA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83E42D-3B18-1988-A165-D50B7AADD592}"/>
              </a:ext>
            </a:extLst>
          </p:cNvPr>
          <p:cNvSpPr>
            <a:spLocks noGrp="1"/>
          </p:cNvSpPr>
          <p:nvPr>
            <p:ph type="sldNum" sz="quarter" idx="12"/>
          </p:nvPr>
        </p:nvSpPr>
        <p:spPr/>
        <p:txBody>
          <a:bodyPr/>
          <a:lstStyle/>
          <a:p>
            <a:fld id="{849497D9-6292-437D-8635-EF26BE7AFD26}" type="slidenum">
              <a:rPr lang="en-US" smtClean="0"/>
              <a:t>‹#›</a:t>
            </a:fld>
            <a:endParaRPr lang="en-US"/>
          </a:p>
        </p:txBody>
      </p:sp>
    </p:spTree>
    <p:extLst>
      <p:ext uri="{BB962C8B-B14F-4D97-AF65-F5344CB8AC3E}">
        <p14:creationId xmlns:p14="http://schemas.microsoft.com/office/powerpoint/2010/main" val="24920912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4988F-EFFB-7198-02FC-98760D5ED90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A7C3704-6E02-1F90-50D3-4734EB2122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009C077-17C5-2D58-EB51-65D79ACD77E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EFC3BFA-61F5-0D39-C738-EF98342144B8}"/>
              </a:ext>
            </a:extLst>
          </p:cNvPr>
          <p:cNvSpPr>
            <a:spLocks noGrp="1"/>
          </p:cNvSpPr>
          <p:nvPr>
            <p:ph type="dt" sz="half" idx="10"/>
          </p:nvPr>
        </p:nvSpPr>
        <p:spPr/>
        <p:txBody>
          <a:bodyPr/>
          <a:lstStyle/>
          <a:p>
            <a:fld id="{634258E6-4831-47BC-8FC5-96158FD403F1}" type="datetimeFigureOut">
              <a:rPr lang="en-US" smtClean="0"/>
              <a:t>4/22/2024</a:t>
            </a:fld>
            <a:endParaRPr lang="en-US"/>
          </a:p>
        </p:txBody>
      </p:sp>
      <p:sp>
        <p:nvSpPr>
          <p:cNvPr id="6" name="Footer Placeholder 5">
            <a:extLst>
              <a:ext uri="{FF2B5EF4-FFF2-40B4-BE49-F238E27FC236}">
                <a16:creationId xmlns:a16="http://schemas.microsoft.com/office/drawing/2014/main" id="{383C23B3-8664-BAA5-83A4-93778E48B1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9C7BC4-EB41-6615-E1AA-E31E6E1333F5}"/>
              </a:ext>
            </a:extLst>
          </p:cNvPr>
          <p:cNvSpPr>
            <a:spLocks noGrp="1"/>
          </p:cNvSpPr>
          <p:nvPr>
            <p:ph type="sldNum" sz="quarter" idx="12"/>
          </p:nvPr>
        </p:nvSpPr>
        <p:spPr/>
        <p:txBody>
          <a:bodyPr/>
          <a:lstStyle/>
          <a:p>
            <a:fld id="{849497D9-6292-437D-8635-EF26BE7AFD26}" type="slidenum">
              <a:rPr lang="en-US" smtClean="0"/>
              <a:t>‹#›</a:t>
            </a:fld>
            <a:endParaRPr lang="en-US"/>
          </a:p>
        </p:txBody>
      </p:sp>
    </p:spTree>
    <p:extLst>
      <p:ext uri="{BB962C8B-B14F-4D97-AF65-F5344CB8AC3E}">
        <p14:creationId xmlns:p14="http://schemas.microsoft.com/office/powerpoint/2010/main" val="42678375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99DF8-2CE9-EA0D-F48A-48751865EE9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00288DE-82C5-B6B1-AFF4-6359AA962CB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CCA8A59-40C8-237E-81FE-B09FF4FBAA4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56506EC-BD59-0D51-872F-A717BC7706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DAFBB43-147C-8C48-72BD-CE9E3971D9C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AD2E57B-1600-7775-A3FA-5FA77BBBF998}"/>
              </a:ext>
            </a:extLst>
          </p:cNvPr>
          <p:cNvSpPr>
            <a:spLocks noGrp="1"/>
          </p:cNvSpPr>
          <p:nvPr>
            <p:ph type="dt" sz="half" idx="10"/>
          </p:nvPr>
        </p:nvSpPr>
        <p:spPr/>
        <p:txBody>
          <a:bodyPr/>
          <a:lstStyle/>
          <a:p>
            <a:fld id="{634258E6-4831-47BC-8FC5-96158FD403F1}" type="datetimeFigureOut">
              <a:rPr lang="en-US" smtClean="0"/>
              <a:t>4/22/2024</a:t>
            </a:fld>
            <a:endParaRPr lang="en-US"/>
          </a:p>
        </p:txBody>
      </p:sp>
      <p:sp>
        <p:nvSpPr>
          <p:cNvPr id="8" name="Footer Placeholder 7">
            <a:extLst>
              <a:ext uri="{FF2B5EF4-FFF2-40B4-BE49-F238E27FC236}">
                <a16:creationId xmlns:a16="http://schemas.microsoft.com/office/drawing/2014/main" id="{71F3E538-4833-0E59-9FBD-5D3E9BA1F21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AD69C1E-B7C3-041D-DA6C-A5F7ABB5C202}"/>
              </a:ext>
            </a:extLst>
          </p:cNvPr>
          <p:cNvSpPr>
            <a:spLocks noGrp="1"/>
          </p:cNvSpPr>
          <p:nvPr>
            <p:ph type="sldNum" sz="quarter" idx="12"/>
          </p:nvPr>
        </p:nvSpPr>
        <p:spPr/>
        <p:txBody>
          <a:bodyPr/>
          <a:lstStyle/>
          <a:p>
            <a:fld id="{849497D9-6292-437D-8635-EF26BE7AFD26}" type="slidenum">
              <a:rPr lang="en-US" smtClean="0"/>
              <a:t>‹#›</a:t>
            </a:fld>
            <a:endParaRPr lang="en-US"/>
          </a:p>
        </p:txBody>
      </p:sp>
    </p:spTree>
    <p:extLst>
      <p:ext uri="{BB962C8B-B14F-4D97-AF65-F5344CB8AC3E}">
        <p14:creationId xmlns:p14="http://schemas.microsoft.com/office/powerpoint/2010/main" val="40702632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A55E9-005E-8F26-ED57-1BABF2A31A2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DF97C51-A694-C55C-ADD9-CD4FD1C037F8}"/>
              </a:ext>
            </a:extLst>
          </p:cNvPr>
          <p:cNvSpPr>
            <a:spLocks noGrp="1"/>
          </p:cNvSpPr>
          <p:nvPr>
            <p:ph type="dt" sz="half" idx="10"/>
          </p:nvPr>
        </p:nvSpPr>
        <p:spPr/>
        <p:txBody>
          <a:bodyPr/>
          <a:lstStyle/>
          <a:p>
            <a:fld id="{634258E6-4831-47BC-8FC5-96158FD403F1}" type="datetimeFigureOut">
              <a:rPr lang="en-US" smtClean="0"/>
              <a:t>4/22/2024</a:t>
            </a:fld>
            <a:endParaRPr lang="en-US"/>
          </a:p>
        </p:txBody>
      </p:sp>
      <p:sp>
        <p:nvSpPr>
          <p:cNvPr id="4" name="Footer Placeholder 3">
            <a:extLst>
              <a:ext uri="{FF2B5EF4-FFF2-40B4-BE49-F238E27FC236}">
                <a16:creationId xmlns:a16="http://schemas.microsoft.com/office/drawing/2014/main" id="{A6D3C4BB-5983-906B-C256-32BFE986ACA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2330C70-271E-AA23-074C-2D7B15FF69AB}"/>
              </a:ext>
            </a:extLst>
          </p:cNvPr>
          <p:cNvSpPr>
            <a:spLocks noGrp="1"/>
          </p:cNvSpPr>
          <p:nvPr>
            <p:ph type="sldNum" sz="quarter" idx="12"/>
          </p:nvPr>
        </p:nvSpPr>
        <p:spPr/>
        <p:txBody>
          <a:bodyPr/>
          <a:lstStyle/>
          <a:p>
            <a:fld id="{849497D9-6292-437D-8635-EF26BE7AFD26}" type="slidenum">
              <a:rPr lang="en-US" smtClean="0"/>
              <a:t>‹#›</a:t>
            </a:fld>
            <a:endParaRPr lang="en-US"/>
          </a:p>
        </p:txBody>
      </p:sp>
    </p:spTree>
    <p:extLst>
      <p:ext uri="{BB962C8B-B14F-4D97-AF65-F5344CB8AC3E}">
        <p14:creationId xmlns:p14="http://schemas.microsoft.com/office/powerpoint/2010/main" val="39452129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AA1B90-9378-57BA-9E91-BFFB377961F0}"/>
              </a:ext>
            </a:extLst>
          </p:cNvPr>
          <p:cNvSpPr>
            <a:spLocks noGrp="1"/>
          </p:cNvSpPr>
          <p:nvPr>
            <p:ph type="dt" sz="half" idx="10"/>
          </p:nvPr>
        </p:nvSpPr>
        <p:spPr/>
        <p:txBody>
          <a:bodyPr/>
          <a:lstStyle/>
          <a:p>
            <a:fld id="{634258E6-4831-47BC-8FC5-96158FD403F1}" type="datetimeFigureOut">
              <a:rPr lang="en-US" smtClean="0"/>
              <a:t>4/22/2024</a:t>
            </a:fld>
            <a:endParaRPr lang="en-US"/>
          </a:p>
        </p:txBody>
      </p:sp>
      <p:sp>
        <p:nvSpPr>
          <p:cNvPr id="3" name="Footer Placeholder 2">
            <a:extLst>
              <a:ext uri="{FF2B5EF4-FFF2-40B4-BE49-F238E27FC236}">
                <a16:creationId xmlns:a16="http://schemas.microsoft.com/office/drawing/2014/main" id="{B0C03C17-CF51-A916-20F6-B538C903A86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3461404-039A-0798-A7F7-68DDB5F48B9F}"/>
              </a:ext>
            </a:extLst>
          </p:cNvPr>
          <p:cNvSpPr>
            <a:spLocks noGrp="1"/>
          </p:cNvSpPr>
          <p:nvPr>
            <p:ph type="sldNum" sz="quarter" idx="12"/>
          </p:nvPr>
        </p:nvSpPr>
        <p:spPr/>
        <p:txBody>
          <a:bodyPr/>
          <a:lstStyle/>
          <a:p>
            <a:fld id="{849497D9-6292-437D-8635-EF26BE7AFD26}" type="slidenum">
              <a:rPr lang="en-US" smtClean="0"/>
              <a:t>‹#›</a:t>
            </a:fld>
            <a:endParaRPr lang="en-US"/>
          </a:p>
        </p:txBody>
      </p:sp>
    </p:spTree>
    <p:extLst>
      <p:ext uri="{BB962C8B-B14F-4D97-AF65-F5344CB8AC3E}">
        <p14:creationId xmlns:p14="http://schemas.microsoft.com/office/powerpoint/2010/main" val="37951609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7A3A4-D093-B30F-6A6B-BDD71D97C1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1D5F60B-C271-6AF9-9FCE-2F0381E12E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A5131C1-BDC8-8A9C-101F-E5EEB0D871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6EA723-BAB1-F325-87E1-98F1FF82F979}"/>
              </a:ext>
            </a:extLst>
          </p:cNvPr>
          <p:cNvSpPr>
            <a:spLocks noGrp="1"/>
          </p:cNvSpPr>
          <p:nvPr>
            <p:ph type="dt" sz="half" idx="10"/>
          </p:nvPr>
        </p:nvSpPr>
        <p:spPr/>
        <p:txBody>
          <a:bodyPr/>
          <a:lstStyle/>
          <a:p>
            <a:fld id="{634258E6-4831-47BC-8FC5-96158FD403F1}" type="datetimeFigureOut">
              <a:rPr lang="en-US" smtClean="0"/>
              <a:t>4/22/2024</a:t>
            </a:fld>
            <a:endParaRPr lang="en-US"/>
          </a:p>
        </p:txBody>
      </p:sp>
      <p:sp>
        <p:nvSpPr>
          <p:cNvPr id="6" name="Footer Placeholder 5">
            <a:extLst>
              <a:ext uri="{FF2B5EF4-FFF2-40B4-BE49-F238E27FC236}">
                <a16:creationId xmlns:a16="http://schemas.microsoft.com/office/drawing/2014/main" id="{EE091A6E-9431-683E-FB02-B8B93ECA1E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D265B2B-1249-FD1E-4EDF-DDAFA9EE8236}"/>
              </a:ext>
            </a:extLst>
          </p:cNvPr>
          <p:cNvSpPr>
            <a:spLocks noGrp="1"/>
          </p:cNvSpPr>
          <p:nvPr>
            <p:ph type="sldNum" sz="quarter" idx="12"/>
          </p:nvPr>
        </p:nvSpPr>
        <p:spPr/>
        <p:txBody>
          <a:bodyPr/>
          <a:lstStyle/>
          <a:p>
            <a:fld id="{849497D9-6292-437D-8635-EF26BE7AFD26}" type="slidenum">
              <a:rPr lang="en-US" smtClean="0"/>
              <a:t>‹#›</a:t>
            </a:fld>
            <a:endParaRPr lang="en-US"/>
          </a:p>
        </p:txBody>
      </p:sp>
    </p:spTree>
    <p:extLst>
      <p:ext uri="{BB962C8B-B14F-4D97-AF65-F5344CB8AC3E}">
        <p14:creationId xmlns:p14="http://schemas.microsoft.com/office/powerpoint/2010/main" val="26241244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DAF27-8F7A-CF8F-059A-A1674A82C9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13A32AC-1D01-9458-3ACD-6F3CA7816B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8CAE73C-E3F6-0580-4672-F4217EEF29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F50A31-38C4-0691-F9DC-E34083A30D9E}"/>
              </a:ext>
            </a:extLst>
          </p:cNvPr>
          <p:cNvSpPr>
            <a:spLocks noGrp="1"/>
          </p:cNvSpPr>
          <p:nvPr>
            <p:ph type="dt" sz="half" idx="10"/>
          </p:nvPr>
        </p:nvSpPr>
        <p:spPr/>
        <p:txBody>
          <a:bodyPr/>
          <a:lstStyle/>
          <a:p>
            <a:fld id="{634258E6-4831-47BC-8FC5-96158FD403F1}" type="datetimeFigureOut">
              <a:rPr lang="en-US" smtClean="0"/>
              <a:t>4/22/2024</a:t>
            </a:fld>
            <a:endParaRPr lang="en-US"/>
          </a:p>
        </p:txBody>
      </p:sp>
      <p:sp>
        <p:nvSpPr>
          <p:cNvPr id="6" name="Footer Placeholder 5">
            <a:extLst>
              <a:ext uri="{FF2B5EF4-FFF2-40B4-BE49-F238E27FC236}">
                <a16:creationId xmlns:a16="http://schemas.microsoft.com/office/drawing/2014/main" id="{653DAB48-7C47-F726-9706-0D969C5C09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83BDF8-28B5-7617-553D-F43B533BF290}"/>
              </a:ext>
            </a:extLst>
          </p:cNvPr>
          <p:cNvSpPr>
            <a:spLocks noGrp="1"/>
          </p:cNvSpPr>
          <p:nvPr>
            <p:ph type="sldNum" sz="quarter" idx="12"/>
          </p:nvPr>
        </p:nvSpPr>
        <p:spPr/>
        <p:txBody>
          <a:bodyPr/>
          <a:lstStyle/>
          <a:p>
            <a:fld id="{849497D9-6292-437D-8635-EF26BE7AFD26}" type="slidenum">
              <a:rPr lang="en-US" smtClean="0"/>
              <a:t>‹#›</a:t>
            </a:fld>
            <a:endParaRPr lang="en-US"/>
          </a:p>
        </p:txBody>
      </p:sp>
    </p:spTree>
    <p:extLst>
      <p:ext uri="{BB962C8B-B14F-4D97-AF65-F5344CB8AC3E}">
        <p14:creationId xmlns:p14="http://schemas.microsoft.com/office/powerpoint/2010/main" val="40095771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D091A-F649-DA3B-751B-3A35D9B0936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C770269-ACA1-90C8-DBA1-619C2C0F38E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61B471-1BF5-A72B-8940-0A9CAD1178B9}"/>
              </a:ext>
            </a:extLst>
          </p:cNvPr>
          <p:cNvSpPr>
            <a:spLocks noGrp="1"/>
          </p:cNvSpPr>
          <p:nvPr>
            <p:ph type="dt" sz="half" idx="10"/>
          </p:nvPr>
        </p:nvSpPr>
        <p:spPr/>
        <p:txBody>
          <a:bodyPr/>
          <a:lstStyle/>
          <a:p>
            <a:fld id="{634258E6-4831-47BC-8FC5-96158FD403F1}" type="datetimeFigureOut">
              <a:rPr lang="en-US" smtClean="0"/>
              <a:t>4/22/2024</a:t>
            </a:fld>
            <a:endParaRPr lang="en-US"/>
          </a:p>
        </p:txBody>
      </p:sp>
      <p:sp>
        <p:nvSpPr>
          <p:cNvPr id="5" name="Footer Placeholder 4">
            <a:extLst>
              <a:ext uri="{FF2B5EF4-FFF2-40B4-BE49-F238E27FC236}">
                <a16:creationId xmlns:a16="http://schemas.microsoft.com/office/drawing/2014/main" id="{96F5060D-F550-1FBD-D85E-D51BF3395E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92BA64-CAA0-998E-95AC-850225F87522}"/>
              </a:ext>
            </a:extLst>
          </p:cNvPr>
          <p:cNvSpPr>
            <a:spLocks noGrp="1"/>
          </p:cNvSpPr>
          <p:nvPr>
            <p:ph type="sldNum" sz="quarter" idx="12"/>
          </p:nvPr>
        </p:nvSpPr>
        <p:spPr/>
        <p:txBody>
          <a:bodyPr/>
          <a:lstStyle/>
          <a:p>
            <a:fld id="{849497D9-6292-437D-8635-EF26BE7AFD26}" type="slidenum">
              <a:rPr lang="en-US" smtClean="0"/>
              <a:t>‹#›</a:t>
            </a:fld>
            <a:endParaRPr lang="en-US"/>
          </a:p>
        </p:txBody>
      </p:sp>
    </p:spTree>
    <p:extLst>
      <p:ext uri="{BB962C8B-B14F-4D97-AF65-F5344CB8AC3E}">
        <p14:creationId xmlns:p14="http://schemas.microsoft.com/office/powerpoint/2010/main" val="39286779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10781C-48EE-CC2C-EC1E-9DA2F14F07F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011AEB9-3421-6D95-275C-141B6A6C4E9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161E9D-EDB9-04FC-B5A6-88E546B05DA0}"/>
              </a:ext>
            </a:extLst>
          </p:cNvPr>
          <p:cNvSpPr>
            <a:spLocks noGrp="1"/>
          </p:cNvSpPr>
          <p:nvPr>
            <p:ph type="dt" sz="half" idx="10"/>
          </p:nvPr>
        </p:nvSpPr>
        <p:spPr/>
        <p:txBody>
          <a:bodyPr/>
          <a:lstStyle/>
          <a:p>
            <a:fld id="{634258E6-4831-47BC-8FC5-96158FD403F1}" type="datetimeFigureOut">
              <a:rPr lang="en-US" smtClean="0"/>
              <a:t>4/22/2024</a:t>
            </a:fld>
            <a:endParaRPr lang="en-US"/>
          </a:p>
        </p:txBody>
      </p:sp>
      <p:sp>
        <p:nvSpPr>
          <p:cNvPr id="5" name="Footer Placeholder 4">
            <a:extLst>
              <a:ext uri="{FF2B5EF4-FFF2-40B4-BE49-F238E27FC236}">
                <a16:creationId xmlns:a16="http://schemas.microsoft.com/office/drawing/2014/main" id="{1596C4D2-5154-52F4-8044-74AB756E88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FB752F-9733-A4BC-9364-3E8C2AB53B83}"/>
              </a:ext>
            </a:extLst>
          </p:cNvPr>
          <p:cNvSpPr>
            <a:spLocks noGrp="1"/>
          </p:cNvSpPr>
          <p:nvPr>
            <p:ph type="sldNum" sz="quarter" idx="12"/>
          </p:nvPr>
        </p:nvSpPr>
        <p:spPr/>
        <p:txBody>
          <a:bodyPr/>
          <a:lstStyle/>
          <a:p>
            <a:fld id="{849497D9-6292-437D-8635-EF26BE7AFD26}" type="slidenum">
              <a:rPr lang="en-US" smtClean="0"/>
              <a:t>‹#›</a:t>
            </a:fld>
            <a:endParaRPr lang="en-US"/>
          </a:p>
        </p:txBody>
      </p:sp>
    </p:spTree>
    <p:extLst>
      <p:ext uri="{BB962C8B-B14F-4D97-AF65-F5344CB8AC3E}">
        <p14:creationId xmlns:p14="http://schemas.microsoft.com/office/powerpoint/2010/main" val="25804287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EFD7679-93D9-A046-7456-401C67443D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0D73807-8BE9-1F1F-035B-FB63C475E0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005A1F-3A9D-5248-E97F-87ED1D56A2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34258E6-4831-47BC-8FC5-96158FD403F1}" type="datetimeFigureOut">
              <a:rPr lang="en-US" smtClean="0"/>
              <a:t>4/22/2024</a:t>
            </a:fld>
            <a:endParaRPr lang="en-US"/>
          </a:p>
        </p:txBody>
      </p:sp>
      <p:sp>
        <p:nvSpPr>
          <p:cNvPr id="5" name="Footer Placeholder 4">
            <a:extLst>
              <a:ext uri="{FF2B5EF4-FFF2-40B4-BE49-F238E27FC236}">
                <a16:creationId xmlns:a16="http://schemas.microsoft.com/office/drawing/2014/main" id="{4E6E3C2B-E4C5-3D79-C2A8-658C33399B8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E297574-4E95-4464-3163-4EF53E1702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49497D9-6292-437D-8635-EF26BE7AFD26}" type="slidenum">
              <a:rPr lang="en-US" smtClean="0"/>
              <a:t>‹#›</a:t>
            </a:fld>
            <a:endParaRPr lang="en-US"/>
          </a:p>
        </p:txBody>
      </p:sp>
    </p:spTree>
    <p:extLst>
      <p:ext uri="{BB962C8B-B14F-4D97-AF65-F5344CB8AC3E}">
        <p14:creationId xmlns:p14="http://schemas.microsoft.com/office/powerpoint/2010/main" val="42025580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microsoft.com/office/2018/10/relationships/comments" Target="../comments/modernComment_10A_C659895E.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10C_183C6A2E.xml"/><Relationship Id="rId1" Type="http://schemas.openxmlformats.org/officeDocument/2006/relationships/slideLayout" Target="../slideLayouts/slideLayout6.xml"/><Relationship Id="rId5" Type="http://schemas.openxmlformats.org/officeDocument/2006/relationships/chart" Target="../charts/chart4.xml"/><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10E_86C081EA.xml"/><Relationship Id="rId1" Type="http://schemas.openxmlformats.org/officeDocument/2006/relationships/slideLayout" Target="../slideLayouts/slideLayout6.xml"/><Relationship Id="rId5" Type="http://schemas.openxmlformats.org/officeDocument/2006/relationships/chart" Target="../charts/chart6.xml"/><Relationship Id="rId4" Type="http://schemas.openxmlformats.org/officeDocument/2006/relationships/chart" Target="../charts/chart5.xml"/></Relationships>
</file>

<file path=ppt/slides/_rels/slide11.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chart" Target="../charts/chart9.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chart" Target="../charts/chart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chart" Target="../charts/chart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chart" Target="../charts/chart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chart" Target="../charts/chart17.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chart" Target="../charts/chart19.xml"/><Relationship Id="rId2" Type="http://schemas.openxmlformats.org/officeDocument/2006/relationships/chart" Target="../charts/chart18.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B84E1-A2E0-5392-EC5E-C92B4440F3AF}"/>
              </a:ext>
            </a:extLst>
          </p:cNvPr>
          <p:cNvSpPr>
            <a:spLocks noGrp="1"/>
          </p:cNvSpPr>
          <p:nvPr>
            <p:ph type="ctrTitle"/>
          </p:nvPr>
        </p:nvSpPr>
        <p:spPr/>
        <p:txBody>
          <a:bodyPr>
            <a:normAutofit fontScale="90000"/>
          </a:bodyPr>
          <a:lstStyle/>
          <a:p>
            <a:r>
              <a:rPr lang="en-US" dirty="0"/>
              <a:t>Empirical Analysis of the German Caselaw on SEP </a:t>
            </a:r>
            <a:r>
              <a:rPr lang="en-US" sz="4900" dirty="0"/>
              <a:t>Injunctions after Huawei v ZTE</a:t>
            </a:r>
            <a:endParaRPr lang="en-US" dirty="0"/>
          </a:p>
        </p:txBody>
      </p:sp>
      <p:sp>
        <p:nvSpPr>
          <p:cNvPr id="3" name="Subtitle 2">
            <a:extLst>
              <a:ext uri="{FF2B5EF4-FFF2-40B4-BE49-F238E27FC236}">
                <a16:creationId xmlns:a16="http://schemas.microsoft.com/office/drawing/2014/main" id="{86296FE2-4B85-641F-FBB3-2C3FF4F5C6C6}"/>
              </a:ext>
            </a:extLst>
          </p:cNvPr>
          <p:cNvSpPr>
            <a:spLocks noGrp="1"/>
          </p:cNvSpPr>
          <p:nvPr>
            <p:ph type="subTitle" idx="1"/>
          </p:nvPr>
        </p:nvSpPr>
        <p:spPr/>
        <p:txBody>
          <a:bodyPr/>
          <a:lstStyle/>
          <a:p>
            <a:r>
              <a:rPr lang="en-US" sz="3200" dirty="0"/>
              <a:t>Dr. Justus A. Baron</a:t>
            </a:r>
          </a:p>
          <a:p>
            <a:r>
              <a:rPr lang="en-US" dirty="0"/>
              <a:t>Northwestern University &amp; BRELA Bureau </a:t>
            </a:r>
            <a:r>
              <a:rPr lang="en-US" dirty="0" err="1"/>
              <a:t>d’Etudes</a:t>
            </a:r>
            <a:endParaRPr lang="en-US" dirty="0"/>
          </a:p>
        </p:txBody>
      </p:sp>
    </p:spTree>
    <p:extLst>
      <p:ext uri="{BB962C8B-B14F-4D97-AF65-F5344CB8AC3E}">
        <p14:creationId xmlns:p14="http://schemas.microsoft.com/office/powerpoint/2010/main" val="7397071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11929-3381-BED7-A800-FC8752981132}"/>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29672F08-4FDF-6E0A-FF51-E8E75E772356}"/>
              </a:ext>
            </a:extLst>
          </p:cNvPr>
          <p:cNvSpPr>
            <a:spLocks noGrp="1"/>
          </p:cNvSpPr>
          <p:nvPr>
            <p:ph idx="1"/>
          </p:nvPr>
        </p:nvSpPr>
        <p:spPr>
          <a:xfrm>
            <a:off x="838200" y="1825625"/>
            <a:ext cx="10515600" cy="4518614"/>
          </a:xfrm>
        </p:spPr>
        <p:txBody>
          <a:bodyPr>
            <a:normAutofit fontScale="70000" lnSpcReduction="20000"/>
          </a:bodyPr>
          <a:lstStyle/>
          <a:p>
            <a:pPr>
              <a:lnSpc>
                <a:spcPct val="120000"/>
              </a:lnSpc>
              <a:spcBef>
                <a:spcPts val="1200"/>
              </a:spcBef>
            </a:pPr>
            <a:r>
              <a:rPr lang="en-US" dirty="0"/>
              <a:t>Important technology standards such as 5G, </a:t>
            </a:r>
            <a:r>
              <a:rPr lang="en-US" dirty="0" err="1"/>
              <a:t>WiFi</a:t>
            </a:r>
            <a:r>
              <a:rPr lang="en-US" dirty="0"/>
              <a:t> 6, and HEVC are subject to Standard-Essential Patents (SEPs) owned by various firms.</a:t>
            </a:r>
          </a:p>
          <a:p>
            <a:pPr>
              <a:lnSpc>
                <a:spcPct val="120000"/>
              </a:lnSpc>
              <a:spcBef>
                <a:spcPts val="1200"/>
              </a:spcBef>
            </a:pPr>
            <a:r>
              <a:rPr lang="en-US" dirty="0"/>
              <a:t>Disputes over SEP licenses may lead to litigation in different national court systems worldwide.</a:t>
            </a:r>
          </a:p>
          <a:p>
            <a:pPr>
              <a:lnSpc>
                <a:spcPct val="120000"/>
              </a:lnSpc>
              <a:spcBef>
                <a:spcPts val="1200"/>
              </a:spcBef>
            </a:pPr>
            <a:r>
              <a:rPr lang="en-US" dirty="0"/>
              <a:t>Two global approaches have emerged: determining Fair, Reasonable, and Non-Discriminatory (FRAND) royalty rates and/or awards of injunctive relief</a:t>
            </a:r>
          </a:p>
          <a:p>
            <a:pPr>
              <a:lnSpc>
                <a:spcPct val="120000"/>
              </a:lnSpc>
              <a:spcBef>
                <a:spcPts val="1200"/>
              </a:spcBef>
            </a:pPr>
            <a:r>
              <a:rPr lang="en-US" dirty="0"/>
              <a:t>Differences in court approaches create friction and parallel litigations.</a:t>
            </a:r>
          </a:p>
          <a:p>
            <a:pPr>
              <a:lnSpc>
                <a:spcPct val="120000"/>
              </a:lnSpc>
              <a:spcBef>
                <a:spcPts val="1200"/>
              </a:spcBef>
            </a:pPr>
            <a:r>
              <a:rPr lang="en-US" dirty="0"/>
              <a:t>In some countries like the US, Japan, and Korea, obtaining injunctive relief for SEP owners is challenging.</a:t>
            </a:r>
          </a:p>
          <a:p>
            <a:pPr>
              <a:lnSpc>
                <a:spcPct val="120000"/>
              </a:lnSpc>
              <a:spcBef>
                <a:spcPts val="1200"/>
              </a:spcBef>
            </a:pPr>
            <a:r>
              <a:rPr lang="en-US" dirty="0"/>
              <a:t>However, SEP injunctions still occur in jurisdictions like Germany, the Netherlands, and China; with Germany being the most common venue.</a:t>
            </a:r>
          </a:p>
        </p:txBody>
      </p:sp>
    </p:spTree>
    <p:extLst>
      <p:ext uri="{BB962C8B-B14F-4D97-AF65-F5344CB8AC3E}">
        <p14:creationId xmlns:p14="http://schemas.microsoft.com/office/powerpoint/2010/main" val="23157763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11929-3381-BED7-A800-FC8752981132}"/>
              </a:ext>
            </a:extLst>
          </p:cNvPr>
          <p:cNvSpPr>
            <a:spLocks noGrp="1"/>
          </p:cNvSpPr>
          <p:nvPr>
            <p:ph type="title"/>
          </p:nvPr>
        </p:nvSpPr>
        <p:spPr/>
        <p:txBody>
          <a:bodyPr/>
          <a:lstStyle/>
          <a:p>
            <a:r>
              <a:rPr lang="en-US" dirty="0"/>
              <a:t>Introduction</a:t>
            </a:r>
          </a:p>
        </p:txBody>
      </p:sp>
      <p:sp>
        <p:nvSpPr>
          <p:cNvPr id="6" name="Content Placeholder 2">
            <a:extLst>
              <a:ext uri="{FF2B5EF4-FFF2-40B4-BE49-F238E27FC236}">
                <a16:creationId xmlns:a16="http://schemas.microsoft.com/office/drawing/2014/main" id="{06083CCC-E572-45D5-235F-B0267BBB9029}"/>
              </a:ext>
            </a:extLst>
          </p:cNvPr>
          <p:cNvSpPr txBox="1">
            <a:spLocks/>
          </p:cNvSpPr>
          <p:nvPr/>
        </p:nvSpPr>
        <p:spPr>
          <a:xfrm>
            <a:off x="734505" y="1910132"/>
            <a:ext cx="10515600" cy="548870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The European Court of Justice's (ECJ) Huawei v ZTE decision creates a framework for assessing permissibility of requests for injunctive relief</a:t>
            </a:r>
          </a:p>
          <a:p>
            <a:r>
              <a:rPr lang="en-US" sz="2400" dirty="0"/>
              <a:t>German courts have referenced and applied this framework, though interpretations vary.</a:t>
            </a:r>
          </a:p>
          <a:p>
            <a:r>
              <a:rPr lang="en-US" sz="2400" dirty="0"/>
              <a:t>Recent attention to SEP litigation in Germany has influenced EU policy</a:t>
            </a:r>
          </a:p>
          <a:p>
            <a:pPr lvl="1"/>
            <a:r>
              <a:rPr lang="en-US" sz="2000" dirty="0"/>
              <a:t>Proposed regulation purports to increase consistency and reduce litigation</a:t>
            </a:r>
          </a:p>
          <a:p>
            <a:pPr lvl="1"/>
            <a:r>
              <a:rPr lang="en-US" sz="2000" dirty="0"/>
              <a:t>Intervention by EU Commission in ongoing litigation at Munich regional court</a:t>
            </a:r>
          </a:p>
          <a:p>
            <a:r>
              <a:rPr lang="en-US" sz="2400" dirty="0"/>
              <a:t>Importance of German caselaw for Unified Patent Court (UPC) jurisprudence</a:t>
            </a:r>
          </a:p>
        </p:txBody>
      </p:sp>
    </p:spTree>
    <p:extLst>
      <p:ext uri="{BB962C8B-B14F-4D97-AF65-F5344CB8AC3E}">
        <p14:creationId xmlns:p14="http://schemas.microsoft.com/office/powerpoint/2010/main" val="23147643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74D7B-A4E6-8C2E-DA69-999E89FDD999}"/>
              </a:ext>
            </a:extLst>
          </p:cNvPr>
          <p:cNvSpPr>
            <a:spLocks noGrp="1"/>
          </p:cNvSpPr>
          <p:nvPr>
            <p:ph type="title"/>
          </p:nvPr>
        </p:nvSpPr>
        <p:spPr/>
        <p:txBody>
          <a:bodyPr/>
          <a:lstStyle/>
          <a:p>
            <a:r>
              <a:rPr lang="en-US" dirty="0"/>
              <a:t>Literature</a:t>
            </a:r>
          </a:p>
        </p:txBody>
      </p:sp>
      <p:sp>
        <p:nvSpPr>
          <p:cNvPr id="3" name="Content Placeholder 2">
            <a:extLst>
              <a:ext uri="{FF2B5EF4-FFF2-40B4-BE49-F238E27FC236}">
                <a16:creationId xmlns:a16="http://schemas.microsoft.com/office/drawing/2014/main" id="{6C9BA566-CF1A-D60C-A646-A90E06373BCA}"/>
              </a:ext>
            </a:extLst>
          </p:cNvPr>
          <p:cNvSpPr>
            <a:spLocks noGrp="1"/>
          </p:cNvSpPr>
          <p:nvPr>
            <p:ph idx="1"/>
          </p:nvPr>
        </p:nvSpPr>
        <p:spPr>
          <a:xfrm>
            <a:off x="838200" y="1825624"/>
            <a:ext cx="10515600" cy="4667251"/>
          </a:xfrm>
        </p:spPr>
        <p:txBody>
          <a:bodyPr>
            <a:normAutofit fontScale="85000" lnSpcReduction="10000"/>
          </a:bodyPr>
          <a:lstStyle/>
          <a:p>
            <a:r>
              <a:rPr lang="en-US" sz="2400" dirty="0"/>
              <a:t>Numerous legal analyses of specific court decisions or specific points of law</a:t>
            </a:r>
          </a:p>
          <a:p>
            <a:pPr lvl="1"/>
            <a:r>
              <a:rPr lang="en-US" sz="2000" dirty="0"/>
              <a:t>Emphasis on higher instances, in particular Federal Court of Justice in Sisvel v Haier</a:t>
            </a:r>
          </a:p>
          <a:p>
            <a:pPr marL="457200" lvl="1" indent="0">
              <a:buNone/>
            </a:pPr>
            <a:endParaRPr lang="en-US" sz="2000" dirty="0"/>
          </a:p>
          <a:p>
            <a:r>
              <a:rPr lang="en-US" sz="2400" dirty="0"/>
              <a:t>Summaries of German jurisprudence, based on overviews over smaller numbers of cases: </a:t>
            </a:r>
          </a:p>
          <a:p>
            <a:pPr lvl="1"/>
            <a:r>
              <a:rPr lang="en-US" sz="2000" dirty="0" err="1"/>
              <a:t>Gniadek</a:t>
            </a:r>
            <a:r>
              <a:rPr lang="en-US" sz="2000" dirty="0"/>
              <a:t> (2016), Pentheroudakis and Baron (2017), Nolte and Rosenblum (2017), Tapia and </a:t>
            </a:r>
            <a:r>
              <a:rPr lang="en-US" sz="2000" dirty="0" err="1"/>
              <a:t>Markis</a:t>
            </a:r>
            <a:r>
              <a:rPr lang="en-US" sz="2000" dirty="0"/>
              <a:t> (2018), </a:t>
            </a:r>
            <a:r>
              <a:rPr lang="en-US" sz="2000" dirty="0" err="1"/>
              <a:t>Picht</a:t>
            </a:r>
            <a:r>
              <a:rPr lang="en-US" sz="2000" dirty="0"/>
              <a:t> (2019), Colangelo and </a:t>
            </a:r>
            <a:r>
              <a:rPr lang="en-US" sz="2000" dirty="0" err="1"/>
              <a:t>Aguggia</a:t>
            </a:r>
            <a:r>
              <a:rPr lang="en-US" sz="2000" dirty="0"/>
              <a:t> (2023)</a:t>
            </a:r>
          </a:p>
          <a:p>
            <a:pPr lvl="1"/>
            <a:endParaRPr lang="en-US" sz="2000" dirty="0"/>
          </a:p>
          <a:p>
            <a:r>
              <a:rPr lang="en-US" sz="2400" dirty="0"/>
              <a:t>Detailed legal analysis of a large number of decisions by </a:t>
            </a:r>
            <a:r>
              <a:rPr lang="en-US" sz="2400" dirty="0" err="1"/>
              <a:t>Habich</a:t>
            </a:r>
            <a:r>
              <a:rPr lang="en-US" sz="2400" dirty="0"/>
              <a:t> (2021), by points of law (in German, study period 2015-2019)</a:t>
            </a:r>
          </a:p>
          <a:p>
            <a:endParaRPr lang="en-US" sz="2400" dirty="0"/>
          </a:p>
          <a:p>
            <a:r>
              <a:rPr lang="en-US" sz="2400" dirty="0"/>
              <a:t>Empirical studies of German caselaw more limited</a:t>
            </a:r>
          </a:p>
          <a:p>
            <a:pPr lvl="1"/>
            <a:r>
              <a:rPr lang="en-US" sz="2000" dirty="0"/>
              <a:t>Older studies focused on validity/infringement outcomes (Contreras et al., 2017)</a:t>
            </a:r>
          </a:p>
          <a:p>
            <a:pPr lvl="1"/>
            <a:r>
              <a:rPr lang="en-US" sz="2000" dirty="0"/>
              <a:t>Baron et al. (2023) coded 23 court decisions with respect to timing of dispute</a:t>
            </a:r>
          </a:p>
          <a:p>
            <a:pPr lvl="1"/>
            <a:r>
              <a:rPr lang="en-US" sz="2000" dirty="0"/>
              <a:t>Lack of recent empirical studies on FRAND decisions in Germany, which would be comparable to studies of US decisions by Lemley and Simcoe (2021) or Helmers and Love (2023, 2024) </a:t>
            </a:r>
          </a:p>
          <a:p>
            <a:pPr lvl="1"/>
            <a:endParaRPr lang="en-US" sz="2000" dirty="0"/>
          </a:p>
        </p:txBody>
      </p:sp>
    </p:spTree>
    <p:extLst>
      <p:ext uri="{BB962C8B-B14F-4D97-AF65-F5344CB8AC3E}">
        <p14:creationId xmlns:p14="http://schemas.microsoft.com/office/powerpoint/2010/main" val="37910510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11929-3381-BED7-A800-FC8752981132}"/>
              </a:ext>
            </a:extLst>
          </p:cNvPr>
          <p:cNvSpPr>
            <a:spLocks noGrp="1"/>
          </p:cNvSpPr>
          <p:nvPr>
            <p:ph type="title"/>
          </p:nvPr>
        </p:nvSpPr>
        <p:spPr/>
        <p:txBody>
          <a:bodyPr/>
          <a:lstStyle/>
          <a:p>
            <a:r>
              <a:rPr lang="en-US" dirty="0"/>
              <a:t>This study</a:t>
            </a:r>
          </a:p>
        </p:txBody>
      </p:sp>
      <p:sp>
        <p:nvSpPr>
          <p:cNvPr id="3" name="Content Placeholder 2">
            <a:extLst>
              <a:ext uri="{FF2B5EF4-FFF2-40B4-BE49-F238E27FC236}">
                <a16:creationId xmlns:a16="http://schemas.microsoft.com/office/drawing/2014/main" id="{76059E7D-410D-BE02-E9C7-F3C7D9FF28F4}"/>
              </a:ext>
            </a:extLst>
          </p:cNvPr>
          <p:cNvSpPr>
            <a:spLocks noGrp="1"/>
          </p:cNvSpPr>
          <p:nvPr>
            <p:ph idx="1"/>
          </p:nvPr>
        </p:nvSpPr>
        <p:spPr>
          <a:xfrm>
            <a:off x="838200" y="1787037"/>
            <a:ext cx="10515600" cy="4896567"/>
          </a:xfrm>
        </p:spPr>
        <p:txBody>
          <a:bodyPr>
            <a:normAutofit fontScale="92500" lnSpcReduction="10000"/>
          </a:bodyPr>
          <a:lstStyle/>
          <a:p>
            <a:r>
              <a:rPr lang="en-US" sz="2400" dirty="0"/>
              <a:t>Comprehensive empirical analysis of German caselaw on SEP injunctions</a:t>
            </a:r>
          </a:p>
          <a:p>
            <a:endParaRPr lang="en-US" sz="2400" dirty="0"/>
          </a:p>
          <a:p>
            <a:r>
              <a:rPr lang="en-US" sz="2400" dirty="0"/>
              <a:t>Coded 71 regional court decisions in cases involving FRAND defenses and injunction requests.</a:t>
            </a:r>
          </a:p>
          <a:p>
            <a:endParaRPr lang="en-US" sz="2400" dirty="0"/>
          </a:p>
          <a:p>
            <a:r>
              <a:rPr lang="en-US" sz="2400" dirty="0"/>
              <a:t>Focus on the frequency of certain outcomes:</a:t>
            </a:r>
          </a:p>
          <a:p>
            <a:pPr lvl="1"/>
            <a:r>
              <a:rPr lang="en-US" sz="2000" dirty="0"/>
              <a:t>success of FRAND defenses in German courts, reasons for SEP holders or implementers prevailing, and factors influencing litigation outcomes.</a:t>
            </a:r>
          </a:p>
          <a:p>
            <a:pPr lvl="1"/>
            <a:endParaRPr lang="en-US" sz="2400" dirty="0"/>
          </a:p>
          <a:p>
            <a:r>
              <a:rPr lang="en-US" sz="2400" dirty="0"/>
              <a:t>Identified related parallel validity proceedings at Federal patent court, and subsequent higher instance decisions (appeals)</a:t>
            </a:r>
          </a:p>
          <a:p>
            <a:endParaRPr lang="en-US" sz="2400" dirty="0"/>
          </a:p>
          <a:p>
            <a:r>
              <a:rPr lang="en-US" sz="2400" dirty="0"/>
              <a:t>Our findings highlight a balanced caselaw, but also underscore concerns such as bifurcation and limited reviews of FRAND compliance.</a:t>
            </a:r>
          </a:p>
          <a:p>
            <a:pPr marL="0" indent="0">
              <a:buNone/>
            </a:pPr>
            <a:endParaRPr lang="en-US" sz="2400" dirty="0"/>
          </a:p>
          <a:p>
            <a:endParaRPr lang="en-US" dirty="0"/>
          </a:p>
        </p:txBody>
      </p:sp>
    </p:spTree>
    <p:extLst>
      <p:ext uri="{BB962C8B-B14F-4D97-AF65-F5344CB8AC3E}">
        <p14:creationId xmlns:p14="http://schemas.microsoft.com/office/powerpoint/2010/main" val="2214328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CF98A-925F-8E49-DF13-19C6C1DC4249}"/>
              </a:ext>
            </a:extLst>
          </p:cNvPr>
          <p:cNvSpPr>
            <a:spLocks noGrp="1"/>
          </p:cNvSpPr>
          <p:nvPr>
            <p:ph type="title"/>
          </p:nvPr>
        </p:nvSpPr>
        <p:spPr/>
        <p:txBody>
          <a:bodyPr/>
          <a:lstStyle/>
          <a:p>
            <a:r>
              <a:rPr lang="en-US" dirty="0"/>
              <a:t>Methodology</a:t>
            </a:r>
          </a:p>
        </p:txBody>
      </p:sp>
      <p:sp>
        <p:nvSpPr>
          <p:cNvPr id="3" name="Content Placeholder 2">
            <a:extLst>
              <a:ext uri="{FF2B5EF4-FFF2-40B4-BE49-F238E27FC236}">
                <a16:creationId xmlns:a16="http://schemas.microsoft.com/office/drawing/2014/main" id="{B7F6F5B8-9034-AEEA-3EB2-E7B3D43DC2DE}"/>
              </a:ext>
            </a:extLst>
          </p:cNvPr>
          <p:cNvSpPr>
            <a:spLocks noGrp="1"/>
          </p:cNvSpPr>
          <p:nvPr>
            <p:ph idx="1"/>
          </p:nvPr>
        </p:nvSpPr>
        <p:spPr>
          <a:xfrm>
            <a:off x="565608" y="1549286"/>
            <a:ext cx="11246177" cy="5167312"/>
          </a:xfrm>
        </p:spPr>
        <p:txBody>
          <a:bodyPr>
            <a:normAutofit fontScale="55000" lnSpcReduction="20000"/>
          </a:bodyPr>
          <a:lstStyle/>
          <a:p>
            <a:r>
              <a:rPr lang="en-US" sz="3300" dirty="0"/>
              <a:t>Sample Selection</a:t>
            </a:r>
          </a:p>
          <a:p>
            <a:pPr lvl="1">
              <a:lnSpc>
                <a:spcPct val="120000"/>
              </a:lnSpc>
            </a:pPr>
            <a:r>
              <a:rPr lang="en-US" sz="2900" dirty="0"/>
              <a:t>First instance (</a:t>
            </a:r>
            <a:r>
              <a:rPr lang="en-US" sz="2900" dirty="0" err="1"/>
              <a:t>Landgericht</a:t>
            </a:r>
            <a:r>
              <a:rPr lang="en-US" sz="2900" dirty="0"/>
              <a:t>) court decisions </a:t>
            </a:r>
            <a:r>
              <a:rPr lang="en-US" sz="2900" i="1" dirty="0"/>
              <a:t>decided</a:t>
            </a:r>
            <a:r>
              <a:rPr lang="en-US" sz="2900" dirty="0"/>
              <a:t> after Huawei v ZTE, where </a:t>
            </a:r>
          </a:p>
          <a:p>
            <a:pPr lvl="1">
              <a:lnSpc>
                <a:spcPct val="120000"/>
              </a:lnSpc>
            </a:pPr>
            <a:r>
              <a:rPr lang="en-US" sz="2900" dirty="0"/>
              <a:t>patent is infringed and essential to a standard, and subject to FRAND commitment and plaintiff's injunction request.</a:t>
            </a:r>
          </a:p>
          <a:p>
            <a:pPr lvl="1">
              <a:lnSpc>
                <a:spcPct val="120000"/>
              </a:lnSpc>
            </a:pPr>
            <a:r>
              <a:rPr lang="en-US" sz="2900" dirty="0"/>
              <a:t>Data sources: Court websites, law firm databases, darts-</a:t>
            </a:r>
            <a:r>
              <a:rPr lang="en-US" sz="2900" dirty="0" err="1"/>
              <a:t>ip</a:t>
            </a:r>
            <a:endParaRPr lang="en-US" sz="2900" dirty="0"/>
          </a:p>
          <a:p>
            <a:pPr lvl="1"/>
            <a:endParaRPr lang="en-US" sz="2500" dirty="0"/>
          </a:p>
          <a:p>
            <a:r>
              <a:rPr lang="en-US" sz="3300" dirty="0"/>
              <a:t>Coding of Decisions</a:t>
            </a:r>
          </a:p>
          <a:p>
            <a:pPr lvl="1">
              <a:lnSpc>
                <a:spcPct val="120000"/>
              </a:lnSpc>
            </a:pPr>
            <a:r>
              <a:rPr lang="en-US" sz="2900" dirty="0"/>
              <a:t>Case number, court, decision on injunction, dates of relevant events, and amount in dispute.</a:t>
            </a:r>
          </a:p>
          <a:p>
            <a:pPr lvl="1">
              <a:lnSpc>
                <a:spcPct val="120000"/>
              </a:lnSpc>
            </a:pPr>
            <a:r>
              <a:rPr lang="en-US" sz="2900" dirty="0"/>
              <a:t>Identified key data from findings of fact (</a:t>
            </a:r>
            <a:r>
              <a:rPr lang="en-US" sz="2900" i="1" dirty="0" err="1"/>
              <a:t>Tatbestand</a:t>
            </a:r>
            <a:r>
              <a:rPr lang="en-US" sz="2900" dirty="0"/>
              <a:t>): </a:t>
            </a:r>
          </a:p>
          <a:p>
            <a:pPr lvl="2"/>
            <a:r>
              <a:rPr lang="en-US" sz="2500" dirty="0"/>
              <a:t>dates in dispute (date of first contact, patent holder’s first licensing offer, complaint, and request for injunction)</a:t>
            </a:r>
          </a:p>
          <a:p>
            <a:pPr lvl="2"/>
            <a:r>
              <a:rPr lang="en-US" sz="2500" dirty="0"/>
              <a:t>Characteristics of patent holder's licensing offers: Pool licensing and worldwide portfolio license offers.</a:t>
            </a:r>
          </a:p>
          <a:p>
            <a:pPr lvl="1">
              <a:lnSpc>
                <a:spcPct val="120000"/>
              </a:lnSpc>
            </a:pPr>
            <a:r>
              <a:rPr lang="en-US" sz="2900" dirty="0"/>
              <a:t>Coded courts’  legal analysis (</a:t>
            </a:r>
            <a:r>
              <a:rPr lang="en-US" sz="2900" i="1" dirty="0" err="1"/>
              <a:t>Entscheidungsgruende</a:t>
            </a:r>
            <a:r>
              <a:rPr lang="en-US" sz="2900" dirty="0"/>
              <a:t>) under Huawei v ZTE:</a:t>
            </a:r>
          </a:p>
          <a:p>
            <a:pPr lvl="2"/>
            <a:r>
              <a:rPr lang="en-US" sz="2500" dirty="0"/>
              <a:t>Existence of a dominant position</a:t>
            </a:r>
          </a:p>
          <a:p>
            <a:pPr lvl="2"/>
            <a:r>
              <a:rPr lang="en-US" sz="2500" dirty="0"/>
              <a:t>Abuse of dominant position</a:t>
            </a:r>
          </a:p>
          <a:p>
            <a:pPr lvl="2"/>
            <a:r>
              <a:rPr lang="en-US" sz="2500" dirty="0"/>
              <a:t>Sufficient notice of infringement, </a:t>
            </a:r>
          </a:p>
          <a:p>
            <a:pPr lvl="2"/>
            <a:r>
              <a:rPr lang="en-US" sz="2500" dirty="0"/>
              <a:t>Willingness to license</a:t>
            </a:r>
          </a:p>
          <a:p>
            <a:pPr lvl="2"/>
            <a:r>
              <a:rPr lang="en-US" sz="2500" dirty="0"/>
              <a:t>FRAND offer (formally and substantively).</a:t>
            </a:r>
          </a:p>
          <a:p>
            <a:pPr lvl="1">
              <a:lnSpc>
                <a:spcPct val="120000"/>
              </a:lnSpc>
            </a:pPr>
            <a:r>
              <a:rPr lang="en-US" sz="2900" dirty="0"/>
              <a:t>Searched for further legal proceedings:</a:t>
            </a:r>
          </a:p>
          <a:p>
            <a:pPr lvl="2"/>
            <a:r>
              <a:rPr lang="en-US" sz="2500" dirty="0"/>
              <a:t>Occurrence and outcomes of appeals</a:t>
            </a:r>
          </a:p>
          <a:p>
            <a:pPr lvl="2"/>
            <a:r>
              <a:rPr lang="en-US" sz="2500" dirty="0"/>
              <a:t>Parallel validity proceedings</a:t>
            </a:r>
          </a:p>
          <a:p>
            <a:endParaRPr lang="en-US" dirty="0"/>
          </a:p>
        </p:txBody>
      </p:sp>
    </p:spTree>
    <p:extLst>
      <p:ext uri="{BB962C8B-B14F-4D97-AF65-F5344CB8AC3E}">
        <p14:creationId xmlns:p14="http://schemas.microsoft.com/office/powerpoint/2010/main" val="8840910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72531-6220-7C97-751D-EF2609F0FA4B}"/>
              </a:ext>
            </a:extLst>
          </p:cNvPr>
          <p:cNvSpPr>
            <a:spLocks noGrp="1"/>
          </p:cNvSpPr>
          <p:nvPr>
            <p:ph type="title"/>
          </p:nvPr>
        </p:nvSpPr>
        <p:spPr/>
        <p:txBody>
          <a:bodyPr/>
          <a:lstStyle/>
          <a:p>
            <a:r>
              <a:rPr lang="en-US" dirty="0"/>
              <a:t>Descriptive analysis</a:t>
            </a:r>
          </a:p>
        </p:txBody>
      </p:sp>
      <p:graphicFrame>
        <p:nvGraphicFramePr>
          <p:cNvPr id="3" name="Chart 2">
            <a:extLst>
              <a:ext uri="{FF2B5EF4-FFF2-40B4-BE49-F238E27FC236}">
                <a16:creationId xmlns:a16="http://schemas.microsoft.com/office/drawing/2014/main" id="{6092668B-2B05-973B-A5E8-246677A31F21}"/>
              </a:ext>
            </a:extLst>
          </p:cNvPr>
          <p:cNvGraphicFramePr>
            <a:graphicFrameLocks/>
          </p:cNvGraphicFramePr>
          <p:nvPr>
            <p:extLst>
              <p:ext uri="{D42A27DB-BD31-4B8C-83A1-F6EECF244321}">
                <p14:modId xmlns:p14="http://schemas.microsoft.com/office/powerpoint/2010/main" val="1089000507"/>
              </p:ext>
            </p:extLst>
          </p:nvPr>
        </p:nvGraphicFramePr>
        <p:xfrm>
          <a:off x="838200" y="2134389"/>
          <a:ext cx="10515600" cy="420030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327756638"/>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CF0504CF-2A87-E636-D2F1-D436532436C9}"/>
              </a:ext>
            </a:extLst>
          </p:cNvPr>
          <p:cNvGraphicFramePr/>
          <p:nvPr>
            <p:extLst>
              <p:ext uri="{D42A27DB-BD31-4B8C-83A1-F6EECF244321}">
                <p14:modId xmlns:p14="http://schemas.microsoft.com/office/powerpoint/2010/main" val="2157448135"/>
              </p:ext>
            </p:extLst>
          </p:nvPr>
        </p:nvGraphicFramePr>
        <p:xfrm>
          <a:off x="2240783" y="785192"/>
          <a:ext cx="7259370" cy="528401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9350571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DB2B0ED-19BC-0C3D-A9FC-30197A063209}"/>
              </a:ext>
            </a:extLst>
          </p:cNvPr>
          <p:cNvPicPr>
            <a:picLocks noChangeAspect="1"/>
          </p:cNvPicPr>
          <p:nvPr/>
        </p:nvPicPr>
        <p:blipFill rotWithShape="1">
          <a:blip r:embed="rId3">
            <a:extLst>
              <a:ext uri="{28A0092B-C50C-407E-A947-70E740481C1C}">
                <a14:useLocalDpi xmlns:a14="http://schemas.microsoft.com/office/drawing/2010/main" val="0"/>
              </a:ext>
            </a:extLst>
          </a:blip>
          <a:srcRect l="1739" t="87157" r="2793" b="4838"/>
          <a:stretch/>
        </p:blipFill>
        <p:spPr bwMode="auto">
          <a:xfrm>
            <a:off x="3595046" y="5658058"/>
            <a:ext cx="4602480" cy="281940"/>
          </a:xfrm>
          <a:prstGeom prst="rect">
            <a:avLst/>
          </a:prstGeom>
          <a:noFill/>
          <a:ln>
            <a:noFill/>
          </a:ln>
          <a:extLst>
            <a:ext uri="{53640926-AAD7-44D8-BBD7-CCE9431645EC}">
              <a14:shadowObscured xmlns:a14="http://schemas.microsoft.com/office/drawing/2010/main"/>
            </a:ext>
          </a:extLst>
        </p:spPr>
      </p:pic>
      <p:graphicFrame>
        <p:nvGraphicFramePr>
          <p:cNvPr id="9" name="Chart 8">
            <a:extLst>
              <a:ext uri="{FF2B5EF4-FFF2-40B4-BE49-F238E27FC236}">
                <a16:creationId xmlns:a16="http://schemas.microsoft.com/office/drawing/2014/main" id="{BCB6165D-783C-B3E1-E009-EEE7BDFC537B}"/>
              </a:ext>
            </a:extLst>
          </p:cNvPr>
          <p:cNvGraphicFramePr/>
          <p:nvPr>
            <p:extLst>
              <p:ext uri="{D42A27DB-BD31-4B8C-83A1-F6EECF244321}">
                <p14:modId xmlns:p14="http://schemas.microsoft.com/office/powerpoint/2010/main" val="2763279528"/>
              </p:ext>
            </p:extLst>
          </p:nvPr>
        </p:nvGraphicFramePr>
        <p:xfrm>
          <a:off x="337933" y="1212574"/>
          <a:ext cx="5599043" cy="411844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2" name="Chart 11">
            <a:extLst>
              <a:ext uri="{FF2B5EF4-FFF2-40B4-BE49-F238E27FC236}">
                <a16:creationId xmlns:a16="http://schemas.microsoft.com/office/drawing/2014/main" id="{B5CB4AC6-26B7-C4DC-14B1-4D8A47B45F8F}"/>
              </a:ext>
            </a:extLst>
          </p:cNvPr>
          <p:cNvGraphicFramePr/>
          <p:nvPr>
            <p:extLst>
              <p:ext uri="{D42A27DB-BD31-4B8C-83A1-F6EECF244321}">
                <p14:modId xmlns:p14="http://schemas.microsoft.com/office/powerpoint/2010/main" val="3879819977"/>
              </p:ext>
            </p:extLst>
          </p:nvPr>
        </p:nvGraphicFramePr>
        <p:xfrm>
          <a:off x="6255026" y="1212575"/>
          <a:ext cx="5599041" cy="4118444"/>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406612526"/>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DB2B0ED-19BC-0C3D-A9FC-30197A063209}"/>
              </a:ext>
            </a:extLst>
          </p:cNvPr>
          <p:cNvPicPr>
            <a:picLocks noChangeAspect="1"/>
          </p:cNvPicPr>
          <p:nvPr/>
        </p:nvPicPr>
        <p:blipFill rotWithShape="1">
          <a:blip r:embed="rId3">
            <a:extLst>
              <a:ext uri="{28A0092B-C50C-407E-A947-70E740481C1C}">
                <a14:useLocalDpi xmlns:a14="http://schemas.microsoft.com/office/drawing/2010/main" val="0"/>
              </a:ext>
            </a:extLst>
          </a:blip>
          <a:srcRect l="1739" t="87157" r="2793" b="4838"/>
          <a:stretch/>
        </p:blipFill>
        <p:spPr bwMode="auto">
          <a:xfrm>
            <a:off x="3595046" y="5658058"/>
            <a:ext cx="4602480" cy="281940"/>
          </a:xfrm>
          <a:prstGeom prst="rect">
            <a:avLst/>
          </a:prstGeom>
          <a:noFill/>
          <a:ln>
            <a:noFill/>
          </a:ln>
          <a:extLst>
            <a:ext uri="{53640926-AAD7-44D8-BBD7-CCE9431645EC}">
              <a14:shadowObscured xmlns:a14="http://schemas.microsoft.com/office/drawing/2010/main"/>
            </a:ext>
          </a:extLst>
        </p:spPr>
      </p:pic>
      <p:graphicFrame>
        <p:nvGraphicFramePr>
          <p:cNvPr id="11" name="Chart 10">
            <a:extLst>
              <a:ext uri="{FF2B5EF4-FFF2-40B4-BE49-F238E27FC236}">
                <a16:creationId xmlns:a16="http://schemas.microsoft.com/office/drawing/2014/main" id="{0B731F7C-E529-B3E0-29D3-74B8958748D4}"/>
              </a:ext>
            </a:extLst>
          </p:cNvPr>
          <p:cNvGraphicFramePr/>
          <p:nvPr>
            <p:extLst>
              <p:ext uri="{D42A27DB-BD31-4B8C-83A1-F6EECF244321}">
                <p14:modId xmlns:p14="http://schemas.microsoft.com/office/powerpoint/2010/main" val="524968009"/>
              </p:ext>
            </p:extLst>
          </p:nvPr>
        </p:nvGraphicFramePr>
        <p:xfrm>
          <a:off x="6255024" y="1212574"/>
          <a:ext cx="5599043" cy="411844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 name="Chart 1">
            <a:extLst>
              <a:ext uri="{FF2B5EF4-FFF2-40B4-BE49-F238E27FC236}">
                <a16:creationId xmlns:a16="http://schemas.microsoft.com/office/drawing/2014/main" id="{DE6F6C6A-C2B0-478B-4B2C-B7CAE3D7DEAA}"/>
              </a:ext>
            </a:extLst>
          </p:cNvPr>
          <p:cNvGraphicFramePr/>
          <p:nvPr>
            <p:extLst>
              <p:ext uri="{D42A27DB-BD31-4B8C-83A1-F6EECF244321}">
                <p14:modId xmlns:p14="http://schemas.microsoft.com/office/powerpoint/2010/main" val="3686067169"/>
              </p:ext>
            </p:extLst>
          </p:nvPr>
        </p:nvGraphicFramePr>
        <p:xfrm>
          <a:off x="337934" y="1212574"/>
          <a:ext cx="5599044" cy="4118445"/>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260763114"/>
      </p:ext>
    </p:extLst>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hart 4">
            <a:extLst>
              <a:ext uri="{FF2B5EF4-FFF2-40B4-BE49-F238E27FC236}">
                <a16:creationId xmlns:a16="http://schemas.microsoft.com/office/drawing/2014/main" id="{D59B8ADF-A33E-4393-8207-2D7DF884F316}"/>
              </a:ext>
            </a:extLst>
          </p:cNvPr>
          <p:cNvGraphicFramePr/>
          <p:nvPr>
            <p:extLst>
              <p:ext uri="{D42A27DB-BD31-4B8C-83A1-F6EECF244321}">
                <p14:modId xmlns:p14="http://schemas.microsoft.com/office/powerpoint/2010/main" val="2597172315"/>
              </p:ext>
            </p:extLst>
          </p:nvPr>
        </p:nvGraphicFramePr>
        <p:xfrm>
          <a:off x="676702" y="1703056"/>
          <a:ext cx="5266897" cy="351578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hart 5">
            <a:extLst>
              <a:ext uri="{FF2B5EF4-FFF2-40B4-BE49-F238E27FC236}">
                <a16:creationId xmlns:a16="http://schemas.microsoft.com/office/drawing/2014/main" id="{678365A7-D243-48D2-A1C8-002F203FA7BD}"/>
              </a:ext>
            </a:extLst>
          </p:cNvPr>
          <p:cNvGraphicFramePr/>
          <p:nvPr>
            <p:extLst>
              <p:ext uri="{D42A27DB-BD31-4B8C-83A1-F6EECF244321}">
                <p14:modId xmlns:p14="http://schemas.microsoft.com/office/powerpoint/2010/main" val="2111876266"/>
              </p:ext>
            </p:extLst>
          </p:nvPr>
        </p:nvGraphicFramePr>
        <p:xfrm>
          <a:off x="6367673" y="1703054"/>
          <a:ext cx="5147625" cy="3515787"/>
        </p:xfrm>
        <a:graphic>
          <a:graphicData uri="http://schemas.openxmlformats.org/drawingml/2006/chart">
            <c:chart xmlns:c="http://schemas.openxmlformats.org/drawingml/2006/chart" xmlns:r="http://schemas.openxmlformats.org/officeDocument/2006/relationships" r:id="rId3"/>
          </a:graphicData>
        </a:graphic>
      </p:graphicFrame>
      <p:pic>
        <p:nvPicPr>
          <p:cNvPr id="7" name="Picture 6">
            <a:extLst>
              <a:ext uri="{FF2B5EF4-FFF2-40B4-BE49-F238E27FC236}">
                <a16:creationId xmlns:a16="http://schemas.microsoft.com/office/drawing/2014/main" id="{8D4E092E-3847-6679-B463-61890B9287AB}"/>
              </a:ext>
            </a:extLst>
          </p:cNvPr>
          <p:cNvPicPr>
            <a:picLocks noChangeAspect="1"/>
          </p:cNvPicPr>
          <p:nvPr/>
        </p:nvPicPr>
        <p:blipFill rotWithShape="1">
          <a:blip r:embed="rId4">
            <a:extLst>
              <a:ext uri="{28A0092B-C50C-407E-A947-70E740481C1C}">
                <a14:useLocalDpi xmlns:a14="http://schemas.microsoft.com/office/drawing/2010/main" val="0"/>
              </a:ext>
            </a:extLst>
          </a:blip>
          <a:srcRect l="3221" t="90373" r="5759" b="4483"/>
          <a:stretch/>
        </p:blipFill>
        <p:spPr bwMode="auto">
          <a:xfrm>
            <a:off x="3943350" y="5603682"/>
            <a:ext cx="4305300" cy="18288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6009195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FA137B34-C5C8-85B5-3918-31FE58807889}"/>
              </a:ext>
            </a:extLst>
          </p:cNvPr>
          <p:cNvGraphicFramePr/>
          <p:nvPr>
            <p:extLst>
              <p:ext uri="{D42A27DB-BD31-4B8C-83A1-F6EECF244321}">
                <p14:modId xmlns:p14="http://schemas.microsoft.com/office/powerpoint/2010/main" val="2870311063"/>
              </p:ext>
            </p:extLst>
          </p:nvPr>
        </p:nvGraphicFramePr>
        <p:xfrm>
          <a:off x="311426" y="1490870"/>
          <a:ext cx="6202017" cy="385010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Chart 3">
            <a:extLst>
              <a:ext uri="{FF2B5EF4-FFF2-40B4-BE49-F238E27FC236}">
                <a16:creationId xmlns:a16="http://schemas.microsoft.com/office/drawing/2014/main" id="{EA4BC24E-2C43-A425-BE14-CBF2914D9E92}"/>
              </a:ext>
            </a:extLst>
          </p:cNvPr>
          <p:cNvGraphicFramePr/>
          <p:nvPr>
            <p:extLst>
              <p:ext uri="{D42A27DB-BD31-4B8C-83A1-F6EECF244321}">
                <p14:modId xmlns:p14="http://schemas.microsoft.com/office/powerpoint/2010/main" val="3446614274"/>
              </p:ext>
            </p:extLst>
          </p:nvPr>
        </p:nvGraphicFramePr>
        <p:xfrm>
          <a:off x="6771860" y="1490870"/>
          <a:ext cx="5108714" cy="385010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2051279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FCA41BD2-2999-698A-0508-D98D0A56C64C}"/>
              </a:ext>
            </a:extLst>
          </p:cNvPr>
          <p:cNvGraphicFramePr>
            <a:graphicFrameLocks/>
          </p:cNvGraphicFramePr>
          <p:nvPr>
            <p:extLst>
              <p:ext uri="{D42A27DB-BD31-4B8C-83A1-F6EECF244321}">
                <p14:modId xmlns:p14="http://schemas.microsoft.com/office/powerpoint/2010/main" val="2340818577"/>
              </p:ext>
            </p:extLst>
          </p:nvPr>
        </p:nvGraphicFramePr>
        <p:xfrm>
          <a:off x="228600" y="2059304"/>
          <a:ext cx="5867400" cy="306038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3C94741C-C35E-4D39-B2AE-EFBF781F8016}"/>
              </a:ext>
            </a:extLst>
          </p:cNvPr>
          <p:cNvGraphicFramePr>
            <a:graphicFrameLocks/>
          </p:cNvGraphicFramePr>
          <p:nvPr>
            <p:extLst>
              <p:ext uri="{D42A27DB-BD31-4B8C-83A1-F6EECF244321}">
                <p14:modId xmlns:p14="http://schemas.microsoft.com/office/powerpoint/2010/main" val="2163743032"/>
              </p:ext>
            </p:extLst>
          </p:nvPr>
        </p:nvGraphicFramePr>
        <p:xfrm>
          <a:off x="6096000" y="2059305"/>
          <a:ext cx="5867400" cy="306038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677626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1BA7981C-CD9D-E9A8-633F-B6ADA6704655}"/>
              </a:ext>
            </a:extLst>
          </p:cNvPr>
          <p:cNvGraphicFramePr/>
          <p:nvPr>
            <p:extLst>
              <p:ext uri="{D42A27DB-BD31-4B8C-83A1-F6EECF244321}">
                <p14:modId xmlns:p14="http://schemas.microsoft.com/office/powerpoint/2010/main" val="192177096"/>
              </p:ext>
            </p:extLst>
          </p:nvPr>
        </p:nvGraphicFramePr>
        <p:xfrm>
          <a:off x="6096000" y="1376339"/>
          <a:ext cx="5787886" cy="392077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 name="Chart 1">
            <a:extLst>
              <a:ext uri="{FF2B5EF4-FFF2-40B4-BE49-F238E27FC236}">
                <a16:creationId xmlns:a16="http://schemas.microsoft.com/office/drawing/2014/main" id="{59673F53-3825-2789-B66E-1445EBBC87DE}"/>
              </a:ext>
            </a:extLst>
          </p:cNvPr>
          <p:cNvGraphicFramePr>
            <a:graphicFrameLocks/>
          </p:cNvGraphicFramePr>
          <p:nvPr>
            <p:extLst>
              <p:ext uri="{D42A27DB-BD31-4B8C-83A1-F6EECF244321}">
                <p14:modId xmlns:p14="http://schemas.microsoft.com/office/powerpoint/2010/main" val="4225274311"/>
              </p:ext>
            </p:extLst>
          </p:nvPr>
        </p:nvGraphicFramePr>
        <p:xfrm>
          <a:off x="308114" y="1376339"/>
          <a:ext cx="5787886" cy="392077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792795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F0BCB82E-09E4-A803-EBA2-F5EA7095843B}"/>
              </a:ext>
            </a:extLst>
          </p:cNvPr>
          <p:cNvGraphicFramePr/>
          <p:nvPr>
            <p:extLst>
              <p:ext uri="{D42A27DB-BD31-4B8C-83A1-F6EECF244321}">
                <p14:modId xmlns:p14="http://schemas.microsoft.com/office/powerpoint/2010/main" val="2477592670"/>
              </p:ext>
            </p:extLst>
          </p:nvPr>
        </p:nvGraphicFramePr>
        <p:xfrm>
          <a:off x="294862" y="1500809"/>
          <a:ext cx="5665304" cy="379674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Chart 3">
            <a:extLst>
              <a:ext uri="{FF2B5EF4-FFF2-40B4-BE49-F238E27FC236}">
                <a16:creationId xmlns:a16="http://schemas.microsoft.com/office/drawing/2014/main" id="{43D4A689-5BF0-537E-246E-9E377BE3B763}"/>
              </a:ext>
            </a:extLst>
          </p:cNvPr>
          <p:cNvGraphicFramePr/>
          <p:nvPr>
            <p:extLst>
              <p:ext uri="{D42A27DB-BD31-4B8C-83A1-F6EECF244321}">
                <p14:modId xmlns:p14="http://schemas.microsoft.com/office/powerpoint/2010/main" val="2472970951"/>
              </p:ext>
            </p:extLst>
          </p:nvPr>
        </p:nvGraphicFramePr>
        <p:xfrm>
          <a:off x="6231835" y="1500809"/>
          <a:ext cx="5665304" cy="379674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3995467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F9602D94-CC62-02FC-4580-93842A4FD5DC}"/>
              </a:ext>
            </a:extLst>
          </p:cNvPr>
          <p:cNvGraphicFramePr>
            <a:graphicFrameLocks/>
          </p:cNvGraphicFramePr>
          <p:nvPr>
            <p:extLst>
              <p:ext uri="{D42A27DB-BD31-4B8C-83A1-F6EECF244321}">
                <p14:modId xmlns:p14="http://schemas.microsoft.com/office/powerpoint/2010/main" val="4153170546"/>
              </p:ext>
            </p:extLst>
          </p:nvPr>
        </p:nvGraphicFramePr>
        <p:xfrm>
          <a:off x="2281882" y="1098007"/>
          <a:ext cx="7628236" cy="466198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6722603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32C64808-184D-994D-F3A6-5245472D4947}"/>
              </a:ext>
            </a:extLst>
          </p:cNvPr>
          <p:cNvGraphicFramePr>
            <a:graphicFrameLocks/>
          </p:cNvGraphicFramePr>
          <p:nvPr>
            <p:extLst>
              <p:ext uri="{D42A27DB-BD31-4B8C-83A1-F6EECF244321}">
                <p14:modId xmlns:p14="http://schemas.microsoft.com/office/powerpoint/2010/main" val="956686834"/>
              </p:ext>
            </p:extLst>
          </p:nvPr>
        </p:nvGraphicFramePr>
        <p:xfrm>
          <a:off x="244573" y="1932708"/>
          <a:ext cx="5830644" cy="385312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Chart 3">
            <a:extLst>
              <a:ext uri="{FF2B5EF4-FFF2-40B4-BE49-F238E27FC236}">
                <a16:creationId xmlns:a16="http://schemas.microsoft.com/office/drawing/2014/main" id="{1757D9B1-61F6-D934-7A95-2286571A7CAC}"/>
              </a:ext>
            </a:extLst>
          </p:cNvPr>
          <p:cNvGraphicFramePr>
            <a:graphicFrameLocks/>
          </p:cNvGraphicFramePr>
          <p:nvPr>
            <p:extLst>
              <p:ext uri="{D42A27DB-BD31-4B8C-83A1-F6EECF244321}">
                <p14:modId xmlns:p14="http://schemas.microsoft.com/office/powerpoint/2010/main" val="1225631488"/>
              </p:ext>
            </p:extLst>
          </p:nvPr>
        </p:nvGraphicFramePr>
        <p:xfrm>
          <a:off x="6116782" y="1932708"/>
          <a:ext cx="5830645" cy="385312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4503811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A1E88-0114-8A2C-6005-DC643A8EB875}"/>
              </a:ext>
            </a:extLst>
          </p:cNvPr>
          <p:cNvSpPr>
            <a:spLocks noGrp="1"/>
          </p:cNvSpPr>
          <p:nvPr>
            <p:ph type="title"/>
          </p:nvPr>
        </p:nvSpPr>
        <p:spPr/>
        <p:txBody>
          <a:bodyPr/>
          <a:lstStyle/>
          <a:p>
            <a:r>
              <a:rPr lang="en-US" dirty="0"/>
              <a:t>Discussion and takeaways</a:t>
            </a:r>
          </a:p>
        </p:txBody>
      </p:sp>
      <p:sp>
        <p:nvSpPr>
          <p:cNvPr id="3" name="Content Placeholder 2">
            <a:extLst>
              <a:ext uri="{FF2B5EF4-FFF2-40B4-BE49-F238E27FC236}">
                <a16:creationId xmlns:a16="http://schemas.microsoft.com/office/drawing/2014/main" id="{25C0A2C7-6CD4-D87D-7D9A-65B54A01686F}"/>
              </a:ext>
            </a:extLst>
          </p:cNvPr>
          <p:cNvSpPr>
            <a:spLocks noGrp="1"/>
          </p:cNvSpPr>
          <p:nvPr>
            <p:ph idx="1"/>
          </p:nvPr>
        </p:nvSpPr>
        <p:spPr/>
        <p:txBody>
          <a:bodyPr>
            <a:normAutofit fontScale="92500" lnSpcReduction="20000"/>
          </a:bodyPr>
          <a:lstStyle/>
          <a:p>
            <a:r>
              <a:rPr lang="en-US" dirty="0"/>
              <a:t>Balanced Reality:</a:t>
            </a:r>
          </a:p>
          <a:p>
            <a:pPr lvl="1"/>
            <a:r>
              <a:rPr lang="en-US" dirty="0"/>
              <a:t>Post-Huawei v ZTE, German courts exhibit balanced approach in SEP litigation.</a:t>
            </a:r>
          </a:p>
          <a:p>
            <a:pPr lvl="1"/>
            <a:r>
              <a:rPr lang="en-US" dirty="0"/>
              <a:t>Both SEP holders and implementers have similar success rates in FRAND defenses.</a:t>
            </a:r>
          </a:p>
          <a:p>
            <a:pPr lvl="1"/>
            <a:r>
              <a:rPr lang="en-US" dirty="0"/>
              <a:t>No indication of injunction likelihood correlating with the amount in dispute.</a:t>
            </a:r>
          </a:p>
          <a:p>
            <a:r>
              <a:rPr lang="en-US" dirty="0"/>
              <a:t>Valid Concerns:</a:t>
            </a:r>
          </a:p>
          <a:p>
            <a:pPr lvl="1"/>
            <a:r>
              <a:rPr lang="en-US" dirty="0"/>
              <a:t>Courts engage superficially with substance of FRAND offers.</a:t>
            </a:r>
          </a:p>
          <a:p>
            <a:pPr lvl="1"/>
            <a:r>
              <a:rPr lang="en-US" dirty="0"/>
              <a:t>Bifurcation of proceedings between validity and infringement raises concerns; many injunctions issued for later invalidated patents.</a:t>
            </a:r>
          </a:p>
          <a:p>
            <a:r>
              <a:rPr lang="en-US" dirty="0"/>
              <a:t>Areas for Improvement:</a:t>
            </a:r>
          </a:p>
          <a:p>
            <a:pPr lvl="1"/>
            <a:r>
              <a:rPr lang="en-US" dirty="0"/>
              <a:t>Disproportionate focus on individual patent validity over substantive FRAND character of offers.</a:t>
            </a:r>
          </a:p>
          <a:p>
            <a:pPr lvl="1"/>
            <a:r>
              <a:rPr lang="en-US" dirty="0"/>
              <a:t>Need for efficient, comprehensive resolution of disputes beyond narrow patent validity focus.</a:t>
            </a:r>
          </a:p>
        </p:txBody>
      </p:sp>
    </p:spTree>
    <p:extLst>
      <p:ext uri="{BB962C8B-B14F-4D97-AF65-F5344CB8AC3E}">
        <p14:creationId xmlns:p14="http://schemas.microsoft.com/office/powerpoint/2010/main" val="32961024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225</TotalTime>
  <Words>970</Words>
  <Application>Microsoft Office PowerPoint</Application>
  <PresentationFormat>Widescreen</PresentationFormat>
  <Paragraphs>93</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vt:lpstr>
      <vt:lpstr>Aptos Display</vt:lpstr>
      <vt:lpstr>Arial</vt:lpstr>
      <vt:lpstr>Office Theme</vt:lpstr>
      <vt:lpstr>Empirical Analysis of the German Caselaw on SEP Injunctions after Huawei v ZTE</vt:lpstr>
      <vt:lpstr>Introduction</vt:lpstr>
      <vt:lpstr>Introduction</vt:lpstr>
      <vt:lpstr>Literature</vt:lpstr>
      <vt:lpstr>This study</vt:lpstr>
      <vt:lpstr>Methodology</vt:lpstr>
      <vt:lpstr>Descriptive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Discussion and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Santiago Marcelo Bergallo</dc:creator>
  <cp:lastModifiedBy>Santiago Marcelo Bergallo</cp:lastModifiedBy>
  <cp:revision>38</cp:revision>
  <dcterms:created xsi:type="dcterms:W3CDTF">2024-04-21T20:46:41Z</dcterms:created>
  <dcterms:modified xsi:type="dcterms:W3CDTF">2024-04-22T13:35:31Z</dcterms:modified>
</cp:coreProperties>
</file>