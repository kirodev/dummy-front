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7_34B228A1.xml" ContentType="application/vnd.ms-powerpoint.comments+xml"/>
  <Override PartName="/ppt/comments/modernComment_108_3297AC75.xml" ContentType="application/vnd.ms-powerpoint.comments+xml"/>
  <Override PartName="/ppt/comments/modernComment_10A_C659895E.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omments/modernComment_10C_183C6A2E.xml" ContentType="application/vnd.ms-powerpoint.comment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omments/modernComment_10E_86C081EA.xml" ContentType="application/vnd.ms-powerpoint.comment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70" r:id="rId14"/>
    <p:sldId id="269" r:id="rId15"/>
    <p:sldId id="271" r:id="rId16"/>
    <p:sldId id="272" r:id="rId17"/>
    <p:sldId id="273" r:id="rId18"/>
    <p:sldId id="27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A9F9252-3D97-9E11-22C8-9AD8F05460E5}" name="Santiago Marcelo Bergallo" initials="SB" userId="321b6dccdbf057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berga\Dropbox\Espacio%20familiar\Back-end\Data%20library\Judicial_documents\DE_Germany\Aktenzeichen_2.xlsx" TargetMode="External"/><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Amount of disputes decided</a:t>
            </a:r>
            <a:r>
              <a:rPr lang="en-US" baseline="0"/>
              <a:t> per year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Fights!$AC$1</c:f>
              <c:strCache>
                <c:ptCount val="1"/>
                <c:pt idx="0">
                  <c:v>Amount of fights</c:v>
                </c:pt>
              </c:strCache>
            </c:strRef>
          </c:tx>
          <c:spPr>
            <a:solidFill>
              <a:schemeClr val="accent1"/>
            </a:solidFill>
            <a:ln>
              <a:noFill/>
            </a:ln>
            <a:effectLst/>
          </c:spPr>
          <c:invertIfNegative val="0"/>
          <c:cat>
            <c:numRef>
              <c:f>Fights!$AB$2:$AB$10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Fights!$AC$2:$AC$10</c:f>
              <c:numCache>
                <c:formatCode>General</c:formatCode>
                <c:ptCount val="9"/>
                <c:pt idx="0">
                  <c:v>2</c:v>
                </c:pt>
                <c:pt idx="1">
                  <c:v>11</c:v>
                </c:pt>
                <c:pt idx="2">
                  <c:v>6</c:v>
                </c:pt>
                <c:pt idx="3">
                  <c:v>6</c:v>
                </c:pt>
                <c:pt idx="4">
                  <c:v>2</c:v>
                </c:pt>
                <c:pt idx="5">
                  <c:v>9</c:v>
                </c:pt>
                <c:pt idx="6">
                  <c:v>4</c:v>
                </c:pt>
                <c:pt idx="7">
                  <c:v>4</c:v>
                </c:pt>
                <c:pt idx="8">
                  <c:v>3</c:v>
                </c:pt>
              </c:numCache>
            </c:numRef>
          </c:val>
          <c:extLst>
            <c:ext xmlns:c16="http://schemas.microsoft.com/office/drawing/2014/chart" uri="{C3380CC4-5D6E-409C-BE32-E72D297353CC}">
              <c16:uniqueId val="{00000000-9245-4CCC-BC86-80556EC4FC7A}"/>
            </c:ext>
          </c:extLst>
        </c:ser>
        <c:dLbls>
          <c:showLegendKey val="0"/>
          <c:showVal val="0"/>
          <c:showCatName val="0"/>
          <c:showSerName val="0"/>
          <c:showPercent val="0"/>
          <c:showBubbleSize val="0"/>
        </c:dLbls>
        <c:gapWidth val="219"/>
        <c:overlap val="-27"/>
        <c:axId val="826811215"/>
        <c:axId val="826800175"/>
      </c:barChart>
      <c:catAx>
        <c:axId val="8268112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800175"/>
        <c:crosses val="autoZero"/>
        <c:auto val="1"/>
        <c:lblAlgn val="ctr"/>
        <c:lblOffset val="100"/>
        <c:noMultiLvlLbl val="0"/>
      </c:catAx>
      <c:valAx>
        <c:axId val="8268001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8112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Amount of disputes decided per year, divided by 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Fights!$AF$1</c:f>
              <c:strCache>
                <c:ptCount val="1"/>
                <c:pt idx="0">
                  <c:v>Fights awarded an injunction</c:v>
                </c:pt>
              </c:strCache>
            </c:strRef>
          </c:tx>
          <c:spPr>
            <a:solidFill>
              <a:schemeClr val="accent1"/>
            </a:solidFill>
            <a:ln>
              <a:noFill/>
            </a:ln>
            <a:effectLst/>
          </c:spPr>
          <c:invertIfNegative val="0"/>
          <c:cat>
            <c:numRef>
              <c:f>Fights!$AE$2:$AE$10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Fights!$AF$2:$AF$10</c:f>
              <c:numCache>
                <c:formatCode>General</c:formatCode>
                <c:ptCount val="9"/>
                <c:pt idx="0">
                  <c:v>2</c:v>
                </c:pt>
                <c:pt idx="1">
                  <c:v>7</c:v>
                </c:pt>
                <c:pt idx="2">
                  <c:v>1</c:v>
                </c:pt>
                <c:pt idx="3">
                  <c:v>3</c:v>
                </c:pt>
                <c:pt idx="4">
                  <c:v>2</c:v>
                </c:pt>
                <c:pt idx="5">
                  <c:v>6</c:v>
                </c:pt>
                <c:pt idx="6">
                  <c:v>3</c:v>
                </c:pt>
                <c:pt idx="7">
                  <c:v>4</c:v>
                </c:pt>
                <c:pt idx="8">
                  <c:v>3</c:v>
                </c:pt>
              </c:numCache>
            </c:numRef>
          </c:val>
          <c:extLst>
            <c:ext xmlns:c16="http://schemas.microsoft.com/office/drawing/2014/chart" uri="{C3380CC4-5D6E-409C-BE32-E72D297353CC}">
              <c16:uniqueId val="{00000000-ECAA-4BF3-91EC-27FE4714B91D}"/>
            </c:ext>
          </c:extLst>
        </c:ser>
        <c:ser>
          <c:idx val="1"/>
          <c:order val="1"/>
          <c:tx>
            <c:strRef>
              <c:f>Fights!$AG$1</c:f>
              <c:strCache>
                <c:ptCount val="1"/>
                <c:pt idx="0">
                  <c:v>Fights with no injunction granted</c:v>
                </c:pt>
              </c:strCache>
            </c:strRef>
          </c:tx>
          <c:spPr>
            <a:solidFill>
              <a:schemeClr val="accent2"/>
            </a:solidFill>
            <a:ln>
              <a:noFill/>
            </a:ln>
            <a:effectLst/>
          </c:spPr>
          <c:invertIfNegative val="0"/>
          <c:cat>
            <c:numRef>
              <c:f>Fights!$AE$2:$AE$10</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Fights!$AG$2:$AG$10</c:f>
              <c:numCache>
                <c:formatCode>General</c:formatCode>
                <c:ptCount val="9"/>
                <c:pt idx="0">
                  <c:v>0</c:v>
                </c:pt>
                <c:pt idx="1">
                  <c:v>4</c:v>
                </c:pt>
                <c:pt idx="2">
                  <c:v>5</c:v>
                </c:pt>
                <c:pt idx="3">
                  <c:v>3</c:v>
                </c:pt>
                <c:pt idx="4">
                  <c:v>0</c:v>
                </c:pt>
                <c:pt idx="5">
                  <c:v>3</c:v>
                </c:pt>
                <c:pt idx="6">
                  <c:v>1</c:v>
                </c:pt>
                <c:pt idx="7">
                  <c:v>0</c:v>
                </c:pt>
                <c:pt idx="8">
                  <c:v>0</c:v>
                </c:pt>
              </c:numCache>
            </c:numRef>
          </c:val>
          <c:extLst>
            <c:ext xmlns:c16="http://schemas.microsoft.com/office/drawing/2014/chart" uri="{C3380CC4-5D6E-409C-BE32-E72D297353CC}">
              <c16:uniqueId val="{00000001-ECAA-4BF3-91EC-27FE4714B91D}"/>
            </c:ext>
          </c:extLst>
        </c:ser>
        <c:dLbls>
          <c:showLegendKey val="0"/>
          <c:showVal val="0"/>
          <c:showCatName val="0"/>
          <c:showSerName val="0"/>
          <c:showPercent val="0"/>
          <c:showBubbleSize val="0"/>
        </c:dLbls>
        <c:gapWidth val="219"/>
        <c:overlap val="-27"/>
        <c:axId val="826796335"/>
        <c:axId val="826807375"/>
      </c:barChart>
      <c:catAx>
        <c:axId val="826796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807375"/>
        <c:crosses val="autoZero"/>
        <c:auto val="1"/>
        <c:lblAlgn val="ctr"/>
        <c:lblOffset val="100"/>
        <c:noMultiLvlLbl val="0"/>
      </c:catAx>
      <c:valAx>
        <c:axId val="8268073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67963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Number of decisions in database by year of ruling.</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'Old graphs'!$J$1</c:f>
              <c:strCache>
                <c:ptCount val="1"/>
                <c:pt idx="0">
                  <c:v>Transition cases (initiated before Huawei v. ZTE)</c:v>
                </c:pt>
              </c:strCache>
            </c:strRef>
          </c:tx>
          <c:spPr>
            <a:solidFill>
              <a:schemeClr val="accent1"/>
            </a:solidFill>
            <a:ln>
              <a:noFill/>
            </a:ln>
            <a:effectLst/>
          </c:spPr>
          <c:invertIfNegative val="0"/>
          <c:cat>
            <c:numRef>
              <c:f>'Old graphs'!$I$3:$I$11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graphs'!$J$3:$J$11</c:f>
              <c:numCache>
                <c:formatCode>General</c:formatCode>
                <c:ptCount val="9"/>
                <c:pt idx="0">
                  <c:v>3</c:v>
                </c:pt>
                <c:pt idx="1">
                  <c:v>8</c:v>
                </c:pt>
                <c:pt idx="2">
                  <c:v>1</c:v>
                </c:pt>
                <c:pt idx="3">
                  <c:v>0</c:v>
                </c:pt>
                <c:pt idx="4">
                  <c:v>0</c:v>
                </c:pt>
                <c:pt idx="5">
                  <c:v>0</c:v>
                </c:pt>
                <c:pt idx="6">
                  <c:v>0</c:v>
                </c:pt>
                <c:pt idx="7">
                  <c:v>0</c:v>
                </c:pt>
                <c:pt idx="8">
                  <c:v>0</c:v>
                </c:pt>
              </c:numCache>
              <c:extLst/>
            </c:numRef>
          </c:val>
          <c:extLst>
            <c:ext xmlns:c16="http://schemas.microsoft.com/office/drawing/2014/chart" uri="{C3380CC4-5D6E-409C-BE32-E72D297353CC}">
              <c16:uniqueId val="{00000000-2BFB-4386-854C-F925EEC64A4B}"/>
            </c:ext>
          </c:extLst>
        </c:ser>
        <c:ser>
          <c:idx val="1"/>
          <c:order val="1"/>
          <c:tx>
            <c:strRef>
              <c:f>'Old graphs'!$K$1</c:f>
              <c:strCache>
                <c:ptCount val="1"/>
                <c:pt idx="0">
                  <c:v>post-Huawei</c:v>
                </c:pt>
              </c:strCache>
            </c:strRef>
          </c:tx>
          <c:spPr>
            <a:solidFill>
              <a:schemeClr val="accent2"/>
            </a:solidFill>
            <a:ln>
              <a:noFill/>
            </a:ln>
            <a:effectLst/>
          </c:spPr>
          <c:invertIfNegative val="0"/>
          <c:cat>
            <c:numRef>
              <c:f>'Old graphs'!$I$3:$I$11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graphs'!$K$3:$K$11</c:f>
              <c:numCache>
                <c:formatCode>General</c:formatCode>
                <c:ptCount val="9"/>
                <c:pt idx="0">
                  <c:v>0</c:v>
                </c:pt>
                <c:pt idx="1">
                  <c:v>7</c:v>
                </c:pt>
                <c:pt idx="2">
                  <c:v>8</c:v>
                </c:pt>
                <c:pt idx="3">
                  <c:v>14</c:v>
                </c:pt>
                <c:pt idx="4">
                  <c:v>2</c:v>
                </c:pt>
                <c:pt idx="5">
                  <c:v>13</c:v>
                </c:pt>
                <c:pt idx="6">
                  <c:v>6</c:v>
                </c:pt>
                <c:pt idx="7">
                  <c:v>5</c:v>
                </c:pt>
                <c:pt idx="8">
                  <c:v>4</c:v>
                </c:pt>
              </c:numCache>
              <c:extLst/>
            </c:numRef>
          </c:val>
          <c:extLst>
            <c:ext xmlns:c16="http://schemas.microsoft.com/office/drawing/2014/chart" uri="{C3380CC4-5D6E-409C-BE32-E72D297353CC}">
              <c16:uniqueId val="{00000001-2BFB-4386-854C-F925EEC64A4B}"/>
            </c:ext>
          </c:extLst>
        </c:ser>
        <c:dLbls>
          <c:showLegendKey val="0"/>
          <c:showVal val="0"/>
          <c:showCatName val="0"/>
          <c:showSerName val="0"/>
          <c:showPercent val="0"/>
          <c:showBubbleSize val="0"/>
        </c:dLbls>
        <c:gapWidth val="150"/>
        <c:overlap val="100"/>
        <c:axId val="1457818496"/>
        <c:axId val="1754066144"/>
      </c:barChart>
      <c:catAx>
        <c:axId val="1457818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4066144"/>
        <c:crosses val="autoZero"/>
        <c:auto val="1"/>
        <c:lblAlgn val="ctr"/>
        <c:lblOffset val="100"/>
        <c:noMultiLvlLbl val="0"/>
      </c:catAx>
      <c:valAx>
        <c:axId val="1754066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7818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year of decision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'Old graphs'!$AY$1</c:f>
              <c:strCache>
                <c:ptCount val="1"/>
                <c:pt idx="0">
                  <c:v>Injunction granted</c:v>
                </c:pt>
              </c:strCache>
            </c:strRef>
          </c:tx>
          <c:spPr>
            <a:solidFill>
              <a:schemeClr val="accent1"/>
            </a:solidFill>
            <a:ln>
              <a:noFill/>
            </a:ln>
            <a:effectLst/>
          </c:spPr>
          <c:invertIfNegative val="0"/>
          <c:cat>
            <c:numRef>
              <c:f>'Old graphs'!$AX$3:$AX$11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graphs'!$AY$3:$AY$11</c:f>
              <c:numCache>
                <c:formatCode>General</c:formatCode>
                <c:ptCount val="9"/>
                <c:pt idx="0">
                  <c:v>3</c:v>
                </c:pt>
                <c:pt idx="1">
                  <c:v>9</c:v>
                </c:pt>
                <c:pt idx="2">
                  <c:v>1</c:v>
                </c:pt>
                <c:pt idx="3">
                  <c:v>9</c:v>
                </c:pt>
                <c:pt idx="4">
                  <c:v>2</c:v>
                </c:pt>
                <c:pt idx="5">
                  <c:v>9</c:v>
                </c:pt>
                <c:pt idx="6">
                  <c:v>5</c:v>
                </c:pt>
                <c:pt idx="7">
                  <c:v>6</c:v>
                </c:pt>
                <c:pt idx="8">
                  <c:v>4</c:v>
                </c:pt>
              </c:numCache>
              <c:extLst/>
            </c:numRef>
          </c:val>
          <c:extLst>
            <c:ext xmlns:c16="http://schemas.microsoft.com/office/drawing/2014/chart" uri="{C3380CC4-5D6E-409C-BE32-E72D297353CC}">
              <c16:uniqueId val="{00000000-C01F-4424-B67B-36D0E8F8A76A}"/>
            </c:ext>
          </c:extLst>
        </c:ser>
        <c:ser>
          <c:idx val="1"/>
          <c:order val="1"/>
          <c:tx>
            <c:strRef>
              <c:f>'Old graphs'!$AZ$1</c:f>
              <c:strCache>
                <c:ptCount val="1"/>
                <c:pt idx="0">
                  <c:v>Not granted</c:v>
                </c:pt>
              </c:strCache>
            </c:strRef>
          </c:tx>
          <c:spPr>
            <a:solidFill>
              <a:schemeClr val="accent2"/>
            </a:solidFill>
            <a:ln>
              <a:noFill/>
            </a:ln>
            <a:effectLst/>
          </c:spPr>
          <c:invertIfNegative val="0"/>
          <c:cat>
            <c:numRef>
              <c:f>'Old graphs'!$AX$3:$AX$11</c:f>
              <c:numCache>
                <c:formatCode>General</c:formatCode>
                <c:ptCount val="9"/>
                <c:pt idx="0">
                  <c:v>2015</c:v>
                </c:pt>
                <c:pt idx="1">
                  <c:v>2016</c:v>
                </c:pt>
                <c:pt idx="2">
                  <c:v>2017</c:v>
                </c:pt>
                <c:pt idx="3">
                  <c:v>2018</c:v>
                </c:pt>
                <c:pt idx="4">
                  <c:v>2019</c:v>
                </c:pt>
                <c:pt idx="5">
                  <c:v>2020</c:v>
                </c:pt>
                <c:pt idx="6">
                  <c:v>2021</c:v>
                </c:pt>
                <c:pt idx="7">
                  <c:v>2022</c:v>
                </c:pt>
                <c:pt idx="8">
                  <c:v>2023</c:v>
                </c:pt>
              </c:numCache>
              <c:extLst/>
            </c:numRef>
          </c:cat>
          <c:val>
            <c:numRef>
              <c:f>'Old graphs'!$AZ$3:$AZ$11</c:f>
              <c:numCache>
                <c:formatCode>General</c:formatCode>
                <c:ptCount val="9"/>
                <c:pt idx="0">
                  <c:v>0</c:v>
                </c:pt>
                <c:pt idx="1">
                  <c:v>6</c:v>
                </c:pt>
                <c:pt idx="2">
                  <c:v>8</c:v>
                </c:pt>
                <c:pt idx="3">
                  <c:v>5</c:v>
                </c:pt>
                <c:pt idx="4">
                  <c:v>0</c:v>
                </c:pt>
                <c:pt idx="5">
                  <c:v>3</c:v>
                </c:pt>
                <c:pt idx="6">
                  <c:v>1</c:v>
                </c:pt>
                <c:pt idx="7">
                  <c:v>0</c:v>
                </c:pt>
                <c:pt idx="8">
                  <c:v>0</c:v>
                </c:pt>
              </c:numCache>
              <c:extLst/>
            </c:numRef>
          </c:val>
          <c:extLst>
            <c:ext xmlns:c16="http://schemas.microsoft.com/office/drawing/2014/chart" uri="{C3380CC4-5D6E-409C-BE32-E72D297353CC}">
              <c16:uniqueId val="{00000001-C01F-4424-B67B-36D0E8F8A76A}"/>
            </c:ext>
          </c:extLst>
        </c:ser>
        <c:dLbls>
          <c:showLegendKey val="0"/>
          <c:showVal val="0"/>
          <c:showCatName val="0"/>
          <c:showSerName val="0"/>
          <c:showPercent val="0"/>
          <c:showBubbleSize val="0"/>
        </c:dLbls>
        <c:gapWidth val="219"/>
        <c:overlap val="-27"/>
        <c:axId val="896165631"/>
        <c:axId val="896192031"/>
      </c:barChart>
      <c:catAx>
        <c:axId val="896165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6192031"/>
        <c:crosses val="autoZero"/>
        <c:auto val="1"/>
        <c:lblAlgn val="ctr"/>
        <c:lblOffset val="100"/>
        <c:noMultiLvlLbl val="0"/>
      </c:catAx>
      <c:valAx>
        <c:axId val="896192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61656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court (transition cases included)</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'Old graphs'!$B$1</c:f>
              <c:strCache>
                <c:ptCount val="1"/>
                <c:pt idx="0">
                  <c:v>Yes</c:v>
                </c:pt>
              </c:strCache>
            </c:strRef>
          </c:tx>
          <c:spPr>
            <a:solidFill>
              <a:schemeClr val="accent1"/>
            </a:solidFill>
            <a:ln>
              <a:noFill/>
            </a:ln>
            <a:effectLst/>
          </c:spPr>
          <c:invertIfNegative val="0"/>
          <c:cat>
            <c:strRef>
              <c:f>'Old graphs'!$A$2:$A$4</c:f>
              <c:strCache>
                <c:ptCount val="3"/>
                <c:pt idx="0">
                  <c:v>Duesseldorf</c:v>
                </c:pt>
                <c:pt idx="1">
                  <c:v>Mannheim</c:v>
                </c:pt>
                <c:pt idx="2">
                  <c:v>Munich</c:v>
                </c:pt>
              </c:strCache>
            </c:strRef>
          </c:cat>
          <c:val>
            <c:numRef>
              <c:f>'Old graphs'!$B$2:$B$4</c:f>
              <c:numCache>
                <c:formatCode>General</c:formatCode>
                <c:ptCount val="3"/>
                <c:pt idx="0">
                  <c:v>21</c:v>
                </c:pt>
                <c:pt idx="1">
                  <c:v>13</c:v>
                </c:pt>
                <c:pt idx="2">
                  <c:v>14</c:v>
                </c:pt>
              </c:numCache>
            </c:numRef>
          </c:val>
          <c:extLst>
            <c:ext xmlns:c16="http://schemas.microsoft.com/office/drawing/2014/chart" uri="{C3380CC4-5D6E-409C-BE32-E72D297353CC}">
              <c16:uniqueId val="{00000000-EEA1-47FC-B274-E2DBA56F317E}"/>
            </c:ext>
          </c:extLst>
        </c:ser>
        <c:ser>
          <c:idx val="1"/>
          <c:order val="1"/>
          <c:tx>
            <c:strRef>
              <c:f>'Old graphs'!$C$1</c:f>
              <c:strCache>
                <c:ptCount val="1"/>
                <c:pt idx="0">
                  <c:v>No</c:v>
                </c:pt>
              </c:strCache>
            </c:strRef>
          </c:tx>
          <c:spPr>
            <a:solidFill>
              <a:schemeClr val="accent2"/>
            </a:solidFill>
            <a:ln>
              <a:noFill/>
            </a:ln>
            <a:effectLst/>
          </c:spPr>
          <c:invertIfNegative val="0"/>
          <c:cat>
            <c:strRef>
              <c:f>'Old graphs'!$A$2:$A$4</c:f>
              <c:strCache>
                <c:ptCount val="3"/>
                <c:pt idx="0">
                  <c:v>Duesseldorf</c:v>
                </c:pt>
                <c:pt idx="1">
                  <c:v>Mannheim</c:v>
                </c:pt>
                <c:pt idx="2">
                  <c:v>Munich</c:v>
                </c:pt>
              </c:strCache>
            </c:strRef>
          </c:cat>
          <c:val>
            <c:numRef>
              <c:f>'Old graphs'!$C$2:$C$4</c:f>
              <c:numCache>
                <c:formatCode>General</c:formatCode>
                <c:ptCount val="3"/>
                <c:pt idx="0">
                  <c:v>11</c:v>
                </c:pt>
                <c:pt idx="1">
                  <c:v>12</c:v>
                </c:pt>
                <c:pt idx="2">
                  <c:v>0</c:v>
                </c:pt>
              </c:numCache>
            </c:numRef>
          </c:val>
          <c:extLst>
            <c:ext xmlns:c16="http://schemas.microsoft.com/office/drawing/2014/chart" uri="{C3380CC4-5D6E-409C-BE32-E72D297353CC}">
              <c16:uniqueId val="{00000001-EEA1-47FC-B274-E2DBA56F317E}"/>
            </c:ext>
          </c:extLst>
        </c:ser>
        <c:dLbls>
          <c:showLegendKey val="0"/>
          <c:showVal val="0"/>
          <c:showCatName val="0"/>
          <c:showSerName val="0"/>
          <c:showPercent val="0"/>
          <c:showBubbleSize val="0"/>
        </c:dLbls>
        <c:gapWidth val="219"/>
        <c:overlap val="-27"/>
        <c:axId val="1742997008"/>
        <c:axId val="1754075072"/>
      </c:barChart>
      <c:catAx>
        <c:axId val="1742997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4075072"/>
        <c:crosses val="autoZero"/>
        <c:auto val="1"/>
        <c:lblAlgn val="ctr"/>
        <c:lblOffset val="100"/>
        <c:noMultiLvlLbl val="0"/>
      </c:catAx>
      <c:valAx>
        <c:axId val="1754075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2997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duration of pre-litigation negotiation (date of first contact to complaint)</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'Lag graphs'!$AJ$1</c:f>
              <c:strCache>
                <c:ptCount val="1"/>
                <c:pt idx="0">
                  <c:v>Yes</c:v>
                </c:pt>
              </c:strCache>
            </c:strRef>
          </c:tx>
          <c:spPr>
            <a:solidFill>
              <a:schemeClr val="accent1"/>
            </a:solidFill>
            <a:ln>
              <a:noFill/>
            </a:ln>
            <a:effectLst/>
          </c:spPr>
          <c:invertIfNegative val="0"/>
          <c:cat>
            <c:strRef>
              <c:f>'Lag graphs'!$AI$2:$AI$6</c:f>
              <c:strCache>
                <c:ptCount val="5"/>
                <c:pt idx="0">
                  <c:v>Less than 1 year</c:v>
                </c:pt>
                <c:pt idx="1">
                  <c:v>1 to 2 years</c:v>
                </c:pt>
                <c:pt idx="2">
                  <c:v>2 to 3 years</c:v>
                </c:pt>
                <c:pt idx="3">
                  <c:v>3 to 5 years</c:v>
                </c:pt>
                <c:pt idx="4">
                  <c:v>More than 5 years</c:v>
                </c:pt>
              </c:strCache>
            </c:strRef>
          </c:cat>
          <c:val>
            <c:numRef>
              <c:f>'Lag graphs'!$AJ$2:$AJ$6</c:f>
              <c:numCache>
                <c:formatCode>General</c:formatCode>
                <c:ptCount val="5"/>
                <c:pt idx="0">
                  <c:v>10</c:v>
                </c:pt>
                <c:pt idx="1">
                  <c:v>1</c:v>
                </c:pt>
                <c:pt idx="2">
                  <c:v>3</c:v>
                </c:pt>
                <c:pt idx="3">
                  <c:v>0</c:v>
                </c:pt>
                <c:pt idx="4">
                  <c:v>13</c:v>
                </c:pt>
              </c:numCache>
            </c:numRef>
          </c:val>
          <c:extLst>
            <c:ext xmlns:c16="http://schemas.microsoft.com/office/drawing/2014/chart" uri="{C3380CC4-5D6E-409C-BE32-E72D297353CC}">
              <c16:uniqueId val="{00000000-3D42-4074-B2D7-5E8E73952EB7}"/>
            </c:ext>
          </c:extLst>
        </c:ser>
        <c:ser>
          <c:idx val="1"/>
          <c:order val="1"/>
          <c:tx>
            <c:strRef>
              <c:f>'Lag graphs'!$AK$1</c:f>
              <c:strCache>
                <c:ptCount val="1"/>
                <c:pt idx="0">
                  <c:v>No</c:v>
                </c:pt>
              </c:strCache>
            </c:strRef>
          </c:tx>
          <c:spPr>
            <a:solidFill>
              <a:schemeClr val="accent2"/>
            </a:solidFill>
            <a:ln>
              <a:noFill/>
            </a:ln>
            <a:effectLst/>
          </c:spPr>
          <c:invertIfNegative val="0"/>
          <c:cat>
            <c:strRef>
              <c:f>'Lag graphs'!$AI$2:$AI$6</c:f>
              <c:strCache>
                <c:ptCount val="5"/>
                <c:pt idx="0">
                  <c:v>Less than 1 year</c:v>
                </c:pt>
                <c:pt idx="1">
                  <c:v>1 to 2 years</c:v>
                </c:pt>
                <c:pt idx="2">
                  <c:v>2 to 3 years</c:v>
                </c:pt>
                <c:pt idx="3">
                  <c:v>3 to 5 years</c:v>
                </c:pt>
                <c:pt idx="4">
                  <c:v>More than 5 years</c:v>
                </c:pt>
              </c:strCache>
            </c:strRef>
          </c:cat>
          <c:val>
            <c:numRef>
              <c:f>'Lag graphs'!$AK$2:$AK$6</c:f>
              <c:numCache>
                <c:formatCode>General</c:formatCode>
                <c:ptCount val="5"/>
                <c:pt idx="0">
                  <c:v>3</c:v>
                </c:pt>
                <c:pt idx="1">
                  <c:v>6</c:v>
                </c:pt>
                <c:pt idx="2">
                  <c:v>4</c:v>
                </c:pt>
                <c:pt idx="3">
                  <c:v>3</c:v>
                </c:pt>
                <c:pt idx="4">
                  <c:v>0</c:v>
                </c:pt>
              </c:numCache>
            </c:numRef>
          </c:val>
          <c:extLst>
            <c:ext xmlns:c16="http://schemas.microsoft.com/office/drawing/2014/chart" uri="{C3380CC4-5D6E-409C-BE32-E72D297353CC}">
              <c16:uniqueId val="{00000001-3D42-4074-B2D7-5E8E73952EB7}"/>
            </c:ext>
          </c:extLst>
        </c:ser>
        <c:dLbls>
          <c:showLegendKey val="0"/>
          <c:showVal val="0"/>
          <c:showCatName val="0"/>
          <c:showSerName val="0"/>
          <c:showPercent val="0"/>
          <c:showBubbleSize val="0"/>
        </c:dLbls>
        <c:gapWidth val="219"/>
        <c:overlap val="-27"/>
        <c:axId val="1330392480"/>
        <c:axId val="1505471904"/>
      </c:barChart>
      <c:catAx>
        <c:axId val="133039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471904"/>
        <c:crosses val="autoZero"/>
        <c:auto val="1"/>
        <c:lblAlgn val="ctr"/>
        <c:lblOffset val="100"/>
        <c:noMultiLvlLbl val="0"/>
      </c:catAx>
      <c:valAx>
        <c:axId val="1505471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03924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duration of litigation (complaint to decision)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'Lag graphs'!$V$1</c:f>
              <c:strCache>
                <c:ptCount val="1"/>
                <c:pt idx="0">
                  <c:v>Yes</c:v>
                </c:pt>
              </c:strCache>
            </c:strRef>
          </c:tx>
          <c:spPr>
            <a:solidFill>
              <a:schemeClr val="accent1"/>
            </a:solidFill>
            <a:ln>
              <a:noFill/>
            </a:ln>
            <a:effectLst/>
          </c:spPr>
          <c:invertIfNegative val="0"/>
          <c:cat>
            <c:strRef>
              <c:f>'Lag graphs'!$U$2:$U$6</c:f>
              <c:strCache>
                <c:ptCount val="5"/>
                <c:pt idx="0">
                  <c:v>Less than 1 year</c:v>
                </c:pt>
                <c:pt idx="1">
                  <c:v>1 to 2 years</c:v>
                </c:pt>
                <c:pt idx="2">
                  <c:v>2 to 3 years</c:v>
                </c:pt>
                <c:pt idx="3">
                  <c:v>3 to 5 years</c:v>
                </c:pt>
                <c:pt idx="4">
                  <c:v>More than 5 years</c:v>
                </c:pt>
              </c:strCache>
            </c:strRef>
          </c:cat>
          <c:val>
            <c:numRef>
              <c:f>'Lag graphs'!$V$2:$V$6</c:f>
              <c:numCache>
                <c:formatCode>General</c:formatCode>
                <c:ptCount val="5"/>
                <c:pt idx="0">
                  <c:v>6</c:v>
                </c:pt>
                <c:pt idx="1">
                  <c:v>21</c:v>
                </c:pt>
                <c:pt idx="2">
                  <c:v>2</c:v>
                </c:pt>
                <c:pt idx="3">
                  <c:v>1</c:v>
                </c:pt>
                <c:pt idx="4">
                  <c:v>0</c:v>
                </c:pt>
              </c:numCache>
            </c:numRef>
          </c:val>
          <c:extLst>
            <c:ext xmlns:c16="http://schemas.microsoft.com/office/drawing/2014/chart" uri="{C3380CC4-5D6E-409C-BE32-E72D297353CC}">
              <c16:uniqueId val="{00000000-F50B-4F30-A9ED-C6E94834E1B6}"/>
            </c:ext>
          </c:extLst>
        </c:ser>
        <c:ser>
          <c:idx val="1"/>
          <c:order val="1"/>
          <c:tx>
            <c:strRef>
              <c:f>'Lag graphs'!$W$1</c:f>
              <c:strCache>
                <c:ptCount val="1"/>
                <c:pt idx="0">
                  <c:v>No</c:v>
                </c:pt>
              </c:strCache>
            </c:strRef>
          </c:tx>
          <c:spPr>
            <a:solidFill>
              <a:schemeClr val="accent2"/>
            </a:solidFill>
            <a:ln>
              <a:noFill/>
            </a:ln>
            <a:effectLst/>
          </c:spPr>
          <c:invertIfNegative val="0"/>
          <c:cat>
            <c:strRef>
              <c:f>'Lag graphs'!$U$2:$U$6</c:f>
              <c:strCache>
                <c:ptCount val="5"/>
                <c:pt idx="0">
                  <c:v>Less than 1 year</c:v>
                </c:pt>
                <c:pt idx="1">
                  <c:v>1 to 2 years</c:v>
                </c:pt>
                <c:pt idx="2">
                  <c:v>2 to 3 years</c:v>
                </c:pt>
                <c:pt idx="3">
                  <c:v>3 to 5 years</c:v>
                </c:pt>
                <c:pt idx="4">
                  <c:v>More than 5 years</c:v>
                </c:pt>
              </c:strCache>
            </c:strRef>
          </c:cat>
          <c:val>
            <c:numRef>
              <c:f>'Lag graphs'!$W$2:$W$6</c:f>
              <c:numCache>
                <c:formatCode>General</c:formatCode>
                <c:ptCount val="5"/>
                <c:pt idx="0">
                  <c:v>7</c:v>
                </c:pt>
                <c:pt idx="1">
                  <c:v>12</c:v>
                </c:pt>
                <c:pt idx="2">
                  <c:v>1</c:v>
                </c:pt>
                <c:pt idx="3">
                  <c:v>0</c:v>
                </c:pt>
                <c:pt idx="4">
                  <c:v>0</c:v>
                </c:pt>
              </c:numCache>
            </c:numRef>
          </c:val>
          <c:extLst>
            <c:ext xmlns:c16="http://schemas.microsoft.com/office/drawing/2014/chart" uri="{C3380CC4-5D6E-409C-BE32-E72D297353CC}">
              <c16:uniqueId val="{00000001-F50B-4F30-A9ED-C6E94834E1B6}"/>
            </c:ext>
          </c:extLst>
        </c:ser>
        <c:dLbls>
          <c:showLegendKey val="0"/>
          <c:showVal val="0"/>
          <c:showCatName val="0"/>
          <c:showSerName val="0"/>
          <c:showPercent val="0"/>
          <c:showBubbleSize val="0"/>
        </c:dLbls>
        <c:gapWidth val="219"/>
        <c:overlap val="-27"/>
        <c:axId val="2095091312"/>
        <c:axId val="2085634480"/>
      </c:barChart>
      <c:catAx>
        <c:axId val="2095091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5634480"/>
        <c:crosses val="autoZero"/>
        <c:auto val="1"/>
        <c:lblAlgn val="ctr"/>
        <c:lblOffset val="100"/>
        <c:noMultiLvlLbl val="0"/>
      </c:catAx>
      <c:valAx>
        <c:axId val="208563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5091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type of licensing offer – pool licensing offer Y/N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'FRAND pools and worldwide'!$H$3:$I$3</c:f>
              <c:strCache>
                <c:ptCount val="2"/>
                <c:pt idx="0">
                  <c:v>Injunction</c:v>
                </c:pt>
                <c:pt idx="1">
                  <c:v>Yes</c:v>
                </c:pt>
              </c:strCache>
            </c:strRef>
          </c:tx>
          <c:spPr>
            <a:solidFill>
              <a:schemeClr val="accent1"/>
            </a:solidFill>
            <a:ln>
              <a:noFill/>
            </a:ln>
            <a:effectLst/>
          </c:spPr>
          <c:invertIfNegative val="0"/>
          <c:cat>
            <c:multiLvlStrRef>
              <c:f>'FRAND pools and worldwide'!$J$1:$K$2</c:f>
              <c:multiLvlStrCache>
                <c:ptCount val="2"/>
                <c:lvl>
                  <c:pt idx="0">
                    <c:v>Yes</c:v>
                  </c:pt>
                  <c:pt idx="1">
                    <c:v>Not found</c:v>
                  </c:pt>
                </c:lvl>
                <c:lvl>
                  <c:pt idx="0">
                    <c:v>Pool</c:v>
                  </c:pt>
                </c:lvl>
              </c:multiLvlStrCache>
            </c:multiLvlStrRef>
          </c:cat>
          <c:val>
            <c:numRef>
              <c:f>'FRAND pools and worldwide'!$J$26:$K$26</c:f>
              <c:numCache>
                <c:formatCode>General</c:formatCode>
                <c:ptCount val="2"/>
                <c:pt idx="0">
                  <c:v>30</c:v>
                </c:pt>
                <c:pt idx="1">
                  <c:v>18</c:v>
                </c:pt>
              </c:numCache>
            </c:numRef>
          </c:val>
          <c:extLst>
            <c:ext xmlns:c16="http://schemas.microsoft.com/office/drawing/2014/chart" uri="{C3380CC4-5D6E-409C-BE32-E72D297353CC}">
              <c16:uniqueId val="{00000000-CAB7-4BBE-8990-35261FA2D016}"/>
            </c:ext>
          </c:extLst>
        </c:ser>
        <c:ser>
          <c:idx val="1"/>
          <c:order val="1"/>
          <c:tx>
            <c:strRef>
              <c:f>'FRAND pools and worldwide'!$H$4:$I$4</c:f>
              <c:strCache>
                <c:ptCount val="2"/>
                <c:pt idx="0">
                  <c:v>Injunction</c:v>
                </c:pt>
                <c:pt idx="1">
                  <c:v>No</c:v>
                </c:pt>
              </c:strCache>
            </c:strRef>
          </c:tx>
          <c:spPr>
            <a:solidFill>
              <a:schemeClr val="accent2"/>
            </a:solidFill>
            <a:ln>
              <a:noFill/>
            </a:ln>
            <a:effectLst/>
          </c:spPr>
          <c:invertIfNegative val="0"/>
          <c:cat>
            <c:multiLvlStrRef>
              <c:f>'FRAND pools and worldwide'!$J$1:$K$2</c:f>
              <c:multiLvlStrCache>
                <c:ptCount val="2"/>
                <c:lvl>
                  <c:pt idx="0">
                    <c:v>Yes</c:v>
                  </c:pt>
                  <c:pt idx="1">
                    <c:v>Not found</c:v>
                  </c:pt>
                </c:lvl>
                <c:lvl>
                  <c:pt idx="0">
                    <c:v>Pool</c:v>
                  </c:pt>
                </c:lvl>
              </c:multiLvlStrCache>
            </c:multiLvlStrRef>
          </c:cat>
          <c:val>
            <c:numRef>
              <c:f>'FRAND pools and worldwide'!$J$27:$K$27</c:f>
              <c:numCache>
                <c:formatCode>General</c:formatCode>
                <c:ptCount val="2"/>
                <c:pt idx="0">
                  <c:v>1</c:v>
                </c:pt>
                <c:pt idx="1">
                  <c:v>22</c:v>
                </c:pt>
              </c:numCache>
            </c:numRef>
          </c:val>
          <c:extLst>
            <c:ext xmlns:c16="http://schemas.microsoft.com/office/drawing/2014/chart" uri="{C3380CC4-5D6E-409C-BE32-E72D297353CC}">
              <c16:uniqueId val="{00000001-CAB7-4BBE-8990-35261FA2D016}"/>
            </c:ext>
          </c:extLst>
        </c:ser>
        <c:dLbls>
          <c:showLegendKey val="0"/>
          <c:showVal val="0"/>
          <c:showCatName val="0"/>
          <c:showSerName val="0"/>
          <c:showPercent val="0"/>
          <c:showBubbleSize val="0"/>
        </c:dLbls>
        <c:gapWidth val="219"/>
        <c:overlap val="-27"/>
        <c:axId val="1199840592"/>
        <c:axId val="1501177808"/>
      </c:barChart>
      <c:catAx>
        <c:axId val="119984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1177808"/>
        <c:crosses val="autoZero"/>
        <c:auto val="1"/>
        <c:lblAlgn val="ctr"/>
        <c:lblOffset val="100"/>
        <c:noMultiLvlLbl val="0"/>
      </c:catAx>
      <c:valAx>
        <c:axId val="1501177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840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type of licensing offer – explicitly worldwide licensing offer Y/N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'FRAND pools and worldwide'!$A$3:$B$3</c:f>
              <c:strCache>
                <c:ptCount val="2"/>
                <c:pt idx="0">
                  <c:v>Injunction</c:v>
                </c:pt>
                <c:pt idx="1">
                  <c:v>Yes</c:v>
                </c:pt>
              </c:strCache>
            </c:strRef>
          </c:tx>
          <c:spPr>
            <a:solidFill>
              <a:schemeClr val="accent1"/>
            </a:solidFill>
            <a:ln>
              <a:noFill/>
            </a:ln>
            <a:effectLst/>
          </c:spPr>
          <c:invertIfNegative val="0"/>
          <c:cat>
            <c:multiLvlStrRef>
              <c:f>'FRAND pools and worldwide'!$C$1:$D$2</c:f>
              <c:multiLvlStrCache>
                <c:ptCount val="2"/>
                <c:lvl>
                  <c:pt idx="0">
                    <c:v>Yes</c:v>
                  </c:pt>
                  <c:pt idx="1">
                    <c:v>Not found</c:v>
                  </c:pt>
                </c:lvl>
                <c:lvl>
                  <c:pt idx="0">
                    <c:v>Worldwide</c:v>
                  </c:pt>
                </c:lvl>
              </c:multiLvlStrCache>
            </c:multiLvlStrRef>
          </c:cat>
          <c:val>
            <c:numRef>
              <c:f>'FRAND pools and worldwide'!$C$26:$D$26</c:f>
              <c:numCache>
                <c:formatCode>General</c:formatCode>
                <c:ptCount val="2"/>
                <c:pt idx="0">
                  <c:v>39</c:v>
                </c:pt>
                <c:pt idx="1">
                  <c:v>9</c:v>
                </c:pt>
              </c:numCache>
            </c:numRef>
          </c:val>
          <c:extLst>
            <c:ext xmlns:c16="http://schemas.microsoft.com/office/drawing/2014/chart" uri="{C3380CC4-5D6E-409C-BE32-E72D297353CC}">
              <c16:uniqueId val="{00000000-79B3-4E09-8171-F72E5E2485B3}"/>
            </c:ext>
          </c:extLst>
        </c:ser>
        <c:ser>
          <c:idx val="1"/>
          <c:order val="1"/>
          <c:tx>
            <c:strRef>
              <c:f>'FRAND pools and worldwide'!$A$4:$B$4</c:f>
              <c:strCache>
                <c:ptCount val="2"/>
                <c:pt idx="0">
                  <c:v>Injunction</c:v>
                </c:pt>
                <c:pt idx="1">
                  <c:v>No</c:v>
                </c:pt>
              </c:strCache>
            </c:strRef>
          </c:tx>
          <c:spPr>
            <a:solidFill>
              <a:schemeClr val="accent2"/>
            </a:solidFill>
            <a:ln>
              <a:noFill/>
            </a:ln>
            <a:effectLst/>
          </c:spPr>
          <c:invertIfNegative val="0"/>
          <c:cat>
            <c:multiLvlStrRef>
              <c:f>'FRAND pools and worldwide'!$C$1:$D$2</c:f>
              <c:multiLvlStrCache>
                <c:ptCount val="2"/>
                <c:lvl>
                  <c:pt idx="0">
                    <c:v>Yes</c:v>
                  </c:pt>
                  <c:pt idx="1">
                    <c:v>Not found</c:v>
                  </c:pt>
                </c:lvl>
                <c:lvl>
                  <c:pt idx="0">
                    <c:v>Worldwide</c:v>
                  </c:pt>
                </c:lvl>
              </c:multiLvlStrCache>
            </c:multiLvlStrRef>
          </c:cat>
          <c:val>
            <c:numRef>
              <c:f>'FRAND pools and worldwide'!$C$27:$D$27</c:f>
              <c:numCache>
                <c:formatCode>General</c:formatCode>
                <c:ptCount val="2"/>
                <c:pt idx="0">
                  <c:v>13</c:v>
                </c:pt>
                <c:pt idx="1">
                  <c:v>10</c:v>
                </c:pt>
              </c:numCache>
            </c:numRef>
          </c:val>
          <c:extLst>
            <c:ext xmlns:c16="http://schemas.microsoft.com/office/drawing/2014/chart" uri="{C3380CC4-5D6E-409C-BE32-E72D297353CC}">
              <c16:uniqueId val="{00000001-79B3-4E09-8171-F72E5E2485B3}"/>
            </c:ext>
          </c:extLst>
        </c:ser>
        <c:dLbls>
          <c:showLegendKey val="0"/>
          <c:showVal val="0"/>
          <c:showCatName val="0"/>
          <c:showSerName val="0"/>
          <c:showPercent val="0"/>
          <c:showBubbleSize val="0"/>
        </c:dLbls>
        <c:gapWidth val="219"/>
        <c:overlap val="-27"/>
        <c:axId val="1510404288"/>
        <c:axId val="2085629024"/>
      </c:barChart>
      <c:catAx>
        <c:axId val="15104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5629024"/>
        <c:crosses val="autoZero"/>
        <c:auto val="1"/>
        <c:lblAlgn val="ctr"/>
        <c:lblOffset val="100"/>
        <c:noMultiLvlLbl val="0"/>
      </c:catAx>
      <c:valAx>
        <c:axId val="2085629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04042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dirty="0">
                <a:effectLst/>
              </a:rPr>
              <a:t>Patent validity challenges by regional court litigation 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'Patent validity graphs'!$T$47</c:f>
              <c:strCache>
                <c:ptCount val="1"/>
                <c:pt idx="0">
                  <c:v>Patent validity challenged</c:v>
                </c:pt>
              </c:strCache>
            </c:strRef>
          </c:tx>
          <c:spPr>
            <a:solidFill>
              <a:schemeClr val="accent1"/>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graphs'!$T$27:$T$28</c:f>
              <c:numCache>
                <c:formatCode>General</c:formatCode>
                <c:ptCount val="2"/>
                <c:pt idx="0">
                  <c:v>43</c:v>
                </c:pt>
                <c:pt idx="1">
                  <c:v>21</c:v>
                </c:pt>
              </c:numCache>
              <c:extLst/>
            </c:numRef>
          </c:val>
          <c:extLst>
            <c:ext xmlns:c16="http://schemas.microsoft.com/office/drawing/2014/chart" uri="{C3380CC4-5D6E-409C-BE32-E72D297353CC}">
              <c16:uniqueId val="{00000000-D005-43C6-9422-62B4EAFD382B}"/>
            </c:ext>
          </c:extLst>
        </c:ser>
        <c:ser>
          <c:idx val="1"/>
          <c:order val="1"/>
          <c:tx>
            <c:strRef>
              <c:f>'Patent validity graphs'!$U$47</c:f>
              <c:strCache>
                <c:ptCount val="1"/>
                <c:pt idx="0">
                  <c:v>Patent validity not challenged</c:v>
                </c:pt>
              </c:strCache>
            </c:strRef>
          </c:tx>
          <c:spPr>
            <a:solidFill>
              <a:schemeClr val="accent2"/>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graphs'!$U$27:$U$28</c:f>
              <c:numCache>
                <c:formatCode>General</c:formatCode>
                <c:ptCount val="2"/>
                <c:pt idx="0">
                  <c:v>3</c:v>
                </c:pt>
                <c:pt idx="1">
                  <c:v>0</c:v>
                </c:pt>
              </c:numCache>
              <c:extLst/>
            </c:numRef>
          </c:val>
          <c:extLst>
            <c:ext xmlns:c16="http://schemas.microsoft.com/office/drawing/2014/chart" uri="{C3380CC4-5D6E-409C-BE32-E72D297353CC}">
              <c16:uniqueId val="{00000001-D005-43C6-9422-62B4EAFD382B}"/>
            </c:ext>
          </c:extLst>
        </c:ser>
        <c:ser>
          <c:idx val="2"/>
          <c:order val="2"/>
          <c:tx>
            <c:strRef>
              <c:f>'Patent validity graphs'!$W$26</c:f>
              <c:strCache>
                <c:ptCount val="1"/>
                <c:pt idx="0">
                  <c:v>Not found</c:v>
                </c:pt>
              </c:strCache>
            </c:strRef>
          </c:tx>
          <c:spPr>
            <a:solidFill>
              <a:schemeClr val="accent3"/>
            </a:solidFill>
            <a:ln>
              <a:noFill/>
            </a:ln>
            <a:effectLst/>
          </c:spPr>
          <c:invertIfNegative val="0"/>
          <c:cat>
            <c:strRef>
              <c:f>'Patent validity graphs'!$S$27:$S$28</c:f>
              <c:strCache>
                <c:ptCount val="2"/>
                <c:pt idx="0">
                  <c:v>Injunction granted</c:v>
                </c:pt>
                <c:pt idx="1">
                  <c:v>Injunction not granted</c:v>
                </c:pt>
              </c:strCache>
              <c:extLst/>
            </c:strRef>
          </c:cat>
          <c:val>
            <c:numRef>
              <c:f>'Patent validity graphs'!$W$27:$W$28</c:f>
              <c:numCache>
                <c:formatCode>General</c:formatCode>
                <c:ptCount val="2"/>
                <c:pt idx="0">
                  <c:v>2</c:v>
                </c:pt>
                <c:pt idx="1">
                  <c:v>2</c:v>
                </c:pt>
              </c:numCache>
              <c:extLst/>
            </c:numRef>
          </c:val>
          <c:extLst>
            <c:ext xmlns:c16="http://schemas.microsoft.com/office/drawing/2014/chart" uri="{C3380CC4-5D6E-409C-BE32-E72D297353CC}">
              <c16:uniqueId val="{00000002-D005-43C6-9422-62B4EAFD382B}"/>
            </c:ext>
          </c:extLst>
        </c:ser>
        <c:dLbls>
          <c:showLegendKey val="0"/>
          <c:showVal val="0"/>
          <c:showCatName val="0"/>
          <c:showSerName val="0"/>
          <c:showPercent val="0"/>
          <c:showBubbleSize val="0"/>
        </c:dLbls>
        <c:gapWidth val="219"/>
        <c:overlap val="-27"/>
        <c:axId val="538621343"/>
        <c:axId val="1505465456"/>
      </c:barChart>
      <c:catAx>
        <c:axId val="53862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465456"/>
        <c:crosses val="autoZero"/>
        <c:auto val="1"/>
        <c:lblAlgn val="ctr"/>
        <c:lblOffset val="100"/>
        <c:noMultiLvlLbl val="0"/>
      </c:catAx>
      <c:valAx>
        <c:axId val="150546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8621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Median</a:t>
            </a:r>
            <a:r>
              <a:rPr lang="en-US" baseline="0"/>
              <a:t> duration of cases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cat>
            <c:strRef>
              <c:f>'Patent validity graphs'!$AA$1:$AC$1</c:f>
              <c:strCache>
                <c:ptCount val="3"/>
                <c:pt idx="0">
                  <c:v>Injunction case</c:v>
                </c:pt>
                <c:pt idx="1">
                  <c:v>Validity case</c:v>
                </c:pt>
                <c:pt idx="2">
                  <c:v>Median Injunction-Validity lag</c:v>
                </c:pt>
              </c:strCache>
            </c:strRef>
          </c:cat>
          <c:val>
            <c:numRef>
              <c:f>'Patent validity graphs'!$AA$2:$AC$2</c:f>
              <c:numCache>
                <c:formatCode>General</c:formatCode>
                <c:ptCount val="3"/>
                <c:pt idx="0">
                  <c:v>531</c:v>
                </c:pt>
                <c:pt idx="1">
                  <c:v>929</c:v>
                </c:pt>
                <c:pt idx="2">
                  <c:v>433</c:v>
                </c:pt>
              </c:numCache>
            </c:numRef>
          </c:val>
          <c:extLst>
            <c:ext xmlns:c16="http://schemas.microsoft.com/office/drawing/2014/chart" uri="{C3380CC4-5D6E-409C-BE32-E72D297353CC}">
              <c16:uniqueId val="{00000000-CB0A-4683-88EB-ACA1F2893313}"/>
            </c:ext>
          </c:extLst>
        </c:ser>
        <c:dLbls>
          <c:showLegendKey val="0"/>
          <c:showVal val="0"/>
          <c:showCatName val="0"/>
          <c:showSerName val="0"/>
          <c:showPercent val="0"/>
          <c:showBubbleSize val="0"/>
        </c:dLbls>
        <c:gapWidth val="182"/>
        <c:axId val="1272396448"/>
        <c:axId val="1326393568"/>
      </c:barChart>
      <c:catAx>
        <c:axId val="127239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393568"/>
        <c:crosses val="autoZero"/>
        <c:auto val="1"/>
        <c:lblAlgn val="ctr"/>
        <c:lblOffset val="100"/>
        <c:noMultiLvlLbl val="0"/>
      </c:catAx>
      <c:valAx>
        <c:axId val="13263935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23964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dominant position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FromPython!$A$48:$A$50</c:f>
              <c:strCache>
                <c:ptCount val="3"/>
                <c:pt idx="0">
                  <c:v>Yes</c:v>
                </c:pt>
                <c:pt idx="1">
                  <c:v>Not found</c:v>
                </c:pt>
                <c:pt idx="2">
                  <c:v>Not assessed</c:v>
                </c:pt>
              </c:strCache>
            </c:strRef>
          </c:cat>
          <c:val>
            <c:numRef>
              <c:f>FromPython!$B$48:$B$50</c:f>
              <c:numCache>
                <c:formatCode>General</c:formatCode>
                <c:ptCount val="3"/>
                <c:pt idx="0">
                  <c:v>44</c:v>
                </c:pt>
                <c:pt idx="1">
                  <c:v>0</c:v>
                </c:pt>
                <c:pt idx="2">
                  <c:v>4</c:v>
                </c:pt>
              </c:numCache>
            </c:numRef>
          </c:val>
          <c:extLst>
            <c:ext xmlns:c16="http://schemas.microsoft.com/office/drawing/2014/chart" uri="{C3380CC4-5D6E-409C-BE32-E72D297353CC}">
              <c16:uniqueId val="{00000000-047B-4205-9577-52D1A02F0451}"/>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FromPython!$A$48:$A$50</c:f>
              <c:strCache>
                <c:ptCount val="3"/>
                <c:pt idx="0">
                  <c:v>Yes</c:v>
                </c:pt>
                <c:pt idx="1">
                  <c:v>Not found</c:v>
                </c:pt>
                <c:pt idx="2">
                  <c:v>Not assessed</c:v>
                </c:pt>
              </c:strCache>
            </c:strRef>
          </c:cat>
          <c:val>
            <c:numRef>
              <c:f>FromPython!$C$48:$C$50</c:f>
              <c:numCache>
                <c:formatCode>General</c:formatCode>
                <c:ptCount val="3"/>
                <c:pt idx="0">
                  <c:v>22</c:v>
                </c:pt>
                <c:pt idx="1">
                  <c:v>0</c:v>
                </c:pt>
                <c:pt idx="2">
                  <c:v>1</c:v>
                </c:pt>
              </c:numCache>
            </c:numRef>
          </c:val>
          <c:extLst>
            <c:ext xmlns:c16="http://schemas.microsoft.com/office/drawing/2014/chart" uri="{C3380CC4-5D6E-409C-BE32-E72D297353CC}">
              <c16:uniqueId val="{00000001-047B-4205-9577-52D1A02F0451}"/>
            </c:ext>
          </c:extLst>
        </c:ser>
        <c:dLbls>
          <c:showLegendKey val="0"/>
          <c:showVal val="0"/>
          <c:showCatName val="0"/>
          <c:showSerName val="0"/>
          <c:showPercent val="0"/>
          <c:showBubbleSize val="0"/>
        </c:dLbls>
        <c:gapWidth val="219"/>
        <c:overlap val="-27"/>
        <c:axId val="940583599"/>
        <c:axId val="940600879"/>
      </c:barChart>
      <c:catAx>
        <c:axId val="940583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0600879"/>
        <c:crosses val="autoZero"/>
        <c:auto val="1"/>
        <c:lblAlgn val="ctr"/>
        <c:lblOffset val="100"/>
        <c:noMultiLvlLbl val="0"/>
      </c:catAx>
      <c:valAx>
        <c:axId val="940600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0583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an abuse of dominant position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FromPython!$A$55:$A$58</c:f>
              <c:strCache>
                <c:ptCount val="4"/>
                <c:pt idx="0">
                  <c:v>Yes</c:v>
                </c:pt>
                <c:pt idx="1">
                  <c:v>No</c:v>
                </c:pt>
                <c:pt idx="2">
                  <c:v>Not found</c:v>
                </c:pt>
                <c:pt idx="3">
                  <c:v>Not assessed</c:v>
                </c:pt>
              </c:strCache>
              <c:extLst/>
            </c:strRef>
          </c:cat>
          <c:val>
            <c:numRef>
              <c:f>FromPython!$B$55:$B$58</c:f>
              <c:numCache>
                <c:formatCode>General</c:formatCode>
                <c:ptCount val="4"/>
                <c:pt idx="0">
                  <c:v>0</c:v>
                </c:pt>
                <c:pt idx="1">
                  <c:v>40</c:v>
                </c:pt>
                <c:pt idx="2">
                  <c:v>7</c:v>
                </c:pt>
                <c:pt idx="3">
                  <c:v>1</c:v>
                </c:pt>
              </c:numCache>
              <c:extLst/>
            </c:numRef>
          </c:val>
          <c:extLst>
            <c:ext xmlns:c16="http://schemas.microsoft.com/office/drawing/2014/chart" uri="{C3380CC4-5D6E-409C-BE32-E72D297353CC}">
              <c16:uniqueId val="{00000000-D841-46DE-920E-2872CC38774E}"/>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FromPython!$A$55:$A$58</c:f>
              <c:strCache>
                <c:ptCount val="4"/>
                <c:pt idx="0">
                  <c:v>Yes</c:v>
                </c:pt>
                <c:pt idx="1">
                  <c:v>No</c:v>
                </c:pt>
                <c:pt idx="2">
                  <c:v>Not found</c:v>
                </c:pt>
                <c:pt idx="3">
                  <c:v>Not assessed</c:v>
                </c:pt>
              </c:strCache>
              <c:extLst/>
            </c:strRef>
          </c:cat>
          <c:val>
            <c:numRef>
              <c:f>FromPython!$C$55:$C$58</c:f>
              <c:numCache>
                <c:formatCode>General</c:formatCode>
                <c:ptCount val="4"/>
                <c:pt idx="0">
                  <c:v>21</c:v>
                </c:pt>
                <c:pt idx="1">
                  <c:v>1</c:v>
                </c:pt>
                <c:pt idx="2">
                  <c:v>1</c:v>
                </c:pt>
                <c:pt idx="3">
                  <c:v>0</c:v>
                </c:pt>
              </c:numCache>
              <c:extLst/>
            </c:numRef>
          </c:val>
          <c:extLst>
            <c:ext xmlns:c16="http://schemas.microsoft.com/office/drawing/2014/chart" uri="{C3380CC4-5D6E-409C-BE32-E72D297353CC}">
              <c16:uniqueId val="{00000001-D841-46DE-920E-2872CC38774E}"/>
            </c:ext>
          </c:extLst>
        </c:ser>
        <c:dLbls>
          <c:showLegendKey val="0"/>
          <c:showVal val="0"/>
          <c:showCatName val="0"/>
          <c:showSerName val="0"/>
          <c:showPercent val="0"/>
          <c:showBubbleSize val="0"/>
        </c:dLbls>
        <c:gapWidth val="219"/>
        <c:overlap val="-27"/>
        <c:axId val="945079519"/>
        <c:axId val="945074239"/>
      </c:barChart>
      <c:catAx>
        <c:axId val="945079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5074239"/>
        <c:crosses val="autoZero"/>
        <c:auto val="1"/>
        <c:lblAlgn val="ctr"/>
        <c:lblOffset val="100"/>
        <c:noMultiLvlLbl val="0"/>
      </c:catAx>
      <c:valAx>
        <c:axId val="94507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507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sufficient notice of infringement</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FromPython!$A$63:$A$65</c:f>
              <c:strCache>
                <c:ptCount val="3"/>
                <c:pt idx="0">
                  <c:v>Yes</c:v>
                </c:pt>
                <c:pt idx="1">
                  <c:v>Not found</c:v>
                </c:pt>
                <c:pt idx="2">
                  <c:v>Not assessed</c:v>
                </c:pt>
              </c:strCache>
              <c:extLst/>
            </c:strRef>
          </c:cat>
          <c:val>
            <c:numRef>
              <c:f>FromPython!$B$63:$B$65</c:f>
              <c:numCache>
                <c:formatCode>General</c:formatCode>
                <c:ptCount val="3"/>
                <c:pt idx="0">
                  <c:v>48</c:v>
                </c:pt>
                <c:pt idx="1">
                  <c:v>0</c:v>
                </c:pt>
                <c:pt idx="2">
                  <c:v>0</c:v>
                </c:pt>
              </c:numCache>
              <c:extLst/>
            </c:numRef>
          </c:val>
          <c:extLst>
            <c:ext xmlns:c16="http://schemas.microsoft.com/office/drawing/2014/chart" uri="{C3380CC4-5D6E-409C-BE32-E72D297353CC}">
              <c16:uniqueId val="{00000000-96D4-4E4C-83C6-49B97E455BDB}"/>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FromPython!$A$63:$A$65</c:f>
              <c:strCache>
                <c:ptCount val="3"/>
                <c:pt idx="0">
                  <c:v>Yes</c:v>
                </c:pt>
                <c:pt idx="1">
                  <c:v>Not found</c:v>
                </c:pt>
                <c:pt idx="2">
                  <c:v>Not assessed</c:v>
                </c:pt>
              </c:strCache>
              <c:extLst/>
            </c:strRef>
          </c:cat>
          <c:val>
            <c:numRef>
              <c:f>FromPython!$C$63:$C$65</c:f>
              <c:numCache>
                <c:formatCode>General</c:formatCode>
                <c:ptCount val="3"/>
                <c:pt idx="0">
                  <c:v>21</c:v>
                </c:pt>
                <c:pt idx="1">
                  <c:v>1</c:v>
                </c:pt>
                <c:pt idx="2">
                  <c:v>1</c:v>
                </c:pt>
              </c:numCache>
              <c:extLst/>
            </c:numRef>
          </c:val>
          <c:extLst>
            <c:ext xmlns:c16="http://schemas.microsoft.com/office/drawing/2014/chart" uri="{C3380CC4-5D6E-409C-BE32-E72D297353CC}">
              <c16:uniqueId val="{00000001-96D4-4E4C-83C6-49B97E455BDB}"/>
            </c:ext>
          </c:extLst>
        </c:ser>
        <c:dLbls>
          <c:showLegendKey val="0"/>
          <c:showVal val="0"/>
          <c:showCatName val="0"/>
          <c:showSerName val="0"/>
          <c:showPercent val="0"/>
          <c:showBubbleSize val="0"/>
        </c:dLbls>
        <c:gapWidth val="219"/>
        <c:overlap val="-27"/>
        <c:axId val="26537200"/>
        <c:axId val="26517520"/>
      </c:barChart>
      <c:catAx>
        <c:axId val="26537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17520"/>
        <c:crosses val="autoZero"/>
        <c:auto val="1"/>
        <c:lblAlgn val="ctr"/>
        <c:lblOffset val="100"/>
        <c:noMultiLvlLbl val="0"/>
      </c:catAx>
      <c:valAx>
        <c:axId val="26517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372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alleged infringer’s willingness to license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FromPython!$A$70:$A$73</c:f>
              <c:strCache>
                <c:ptCount val="4"/>
                <c:pt idx="0">
                  <c:v>Yes</c:v>
                </c:pt>
                <c:pt idx="1">
                  <c:v>No</c:v>
                </c:pt>
                <c:pt idx="2">
                  <c:v>Not found</c:v>
                </c:pt>
                <c:pt idx="3">
                  <c:v>Not assessed</c:v>
                </c:pt>
              </c:strCache>
              <c:extLst/>
            </c:strRef>
          </c:cat>
          <c:val>
            <c:numRef>
              <c:f>FromPython!$B$70:$B$73</c:f>
              <c:numCache>
                <c:formatCode>General</c:formatCode>
                <c:ptCount val="4"/>
                <c:pt idx="0">
                  <c:v>13</c:v>
                </c:pt>
                <c:pt idx="1">
                  <c:v>33</c:v>
                </c:pt>
                <c:pt idx="2">
                  <c:v>0</c:v>
                </c:pt>
                <c:pt idx="3">
                  <c:v>2</c:v>
                </c:pt>
              </c:numCache>
              <c:extLst/>
            </c:numRef>
          </c:val>
          <c:extLst>
            <c:ext xmlns:c16="http://schemas.microsoft.com/office/drawing/2014/chart" uri="{C3380CC4-5D6E-409C-BE32-E72D297353CC}">
              <c16:uniqueId val="{00000000-7B79-42F9-B653-1774157BBC40}"/>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FromPython!$A$70:$A$73</c:f>
              <c:strCache>
                <c:ptCount val="4"/>
                <c:pt idx="0">
                  <c:v>Yes</c:v>
                </c:pt>
                <c:pt idx="1">
                  <c:v>No</c:v>
                </c:pt>
                <c:pt idx="2">
                  <c:v>Not found</c:v>
                </c:pt>
                <c:pt idx="3">
                  <c:v>Not assessed</c:v>
                </c:pt>
              </c:strCache>
              <c:extLst/>
            </c:strRef>
          </c:cat>
          <c:val>
            <c:numRef>
              <c:f>FromPython!$C$70:$C$73</c:f>
              <c:numCache>
                <c:formatCode>General</c:formatCode>
                <c:ptCount val="4"/>
                <c:pt idx="0">
                  <c:v>20</c:v>
                </c:pt>
                <c:pt idx="1">
                  <c:v>1</c:v>
                </c:pt>
                <c:pt idx="2">
                  <c:v>1</c:v>
                </c:pt>
                <c:pt idx="3">
                  <c:v>1</c:v>
                </c:pt>
              </c:numCache>
              <c:extLst/>
            </c:numRef>
          </c:val>
          <c:extLst>
            <c:ext xmlns:c16="http://schemas.microsoft.com/office/drawing/2014/chart" uri="{C3380CC4-5D6E-409C-BE32-E72D297353CC}">
              <c16:uniqueId val="{00000001-7B79-42F9-B653-1774157BBC40}"/>
            </c:ext>
          </c:extLst>
        </c:ser>
        <c:dLbls>
          <c:showLegendKey val="0"/>
          <c:showVal val="0"/>
          <c:showCatName val="0"/>
          <c:showSerName val="0"/>
          <c:showPercent val="0"/>
          <c:showBubbleSize val="0"/>
        </c:dLbls>
        <c:gapWidth val="219"/>
        <c:overlap val="-27"/>
        <c:axId val="26498320"/>
        <c:axId val="26505040"/>
      </c:barChart>
      <c:catAx>
        <c:axId val="2649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05040"/>
        <c:crosses val="autoZero"/>
        <c:auto val="1"/>
        <c:lblAlgn val="ctr"/>
        <c:lblOffset val="100"/>
        <c:noMultiLvlLbl val="0"/>
      </c:catAx>
      <c:valAx>
        <c:axId val="26505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498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effectLst/>
              </a:rPr>
              <a:t>Litigation outcome by finding of FRAND offer</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FromPython!$K$38</c:f>
              <c:strCache>
                <c:ptCount val="1"/>
                <c:pt idx="0">
                  <c:v>Injunction granted</c:v>
                </c:pt>
              </c:strCache>
            </c:strRef>
          </c:tx>
          <c:spPr>
            <a:solidFill>
              <a:schemeClr val="accent1"/>
            </a:solidFill>
            <a:ln>
              <a:noFill/>
            </a:ln>
            <a:effectLst/>
          </c:spPr>
          <c:invertIfNegative val="0"/>
          <c:cat>
            <c:strRef>
              <c:f>FromPython!$A$78:$A$81</c:f>
              <c:strCache>
                <c:ptCount val="4"/>
                <c:pt idx="0">
                  <c:v>Yes</c:v>
                </c:pt>
                <c:pt idx="1">
                  <c:v>No</c:v>
                </c:pt>
                <c:pt idx="2">
                  <c:v>Not found</c:v>
                </c:pt>
                <c:pt idx="3">
                  <c:v>Not assessed</c:v>
                </c:pt>
              </c:strCache>
              <c:extLst/>
            </c:strRef>
          </c:cat>
          <c:val>
            <c:numRef>
              <c:f>FromPython!$B$78:$B$81</c:f>
              <c:numCache>
                <c:formatCode>General</c:formatCode>
                <c:ptCount val="4"/>
                <c:pt idx="0">
                  <c:v>25</c:v>
                </c:pt>
                <c:pt idx="1">
                  <c:v>0</c:v>
                </c:pt>
                <c:pt idx="2">
                  <c:v>0</c:v>
                </c:pt>
                <c:pt idx="3">
                  <c:v>23</c:v>
                </c:pt>
              </c:numCache>
              <c:extLst/>
            </c:numRef>
          </c:val>
          <c:extLst>
            <c:ext xmlns:c16="http://schemas.microsoft.com/office/drawing/2014/chart" uri="{C3380CC4-5D6E-409C-BE32-E72D297353CC}">
              <c16:uniqueId val="{00000000-641F-4672-B61B-A0811E802A30}"/>
            </c:ext>
          </c:extLst>
        </c:ser>
        <c:ser>
          <c:idx val="1"/>
          <c:order val="1"/>
          <c:tx>
            <c:strRef>
              <c:f>FromPython!$L$38</c:f>
              <c:strCache>
                <c:ptCount val="1"/>
                <c:pt idx="0">
                  <c:v>Not granted</c:v>
                </c:pt>
              </c:strCache>
            </c:strRef>
          </c:tx>
          <c:spPr>
            <a:solidFill>
              <a:schemeClr val="accent2"/>
            </a:solidFill>
            <a:ln>
              <a:noFill/>
            </a:ln>
            <a:effectLst/>
          </c:spPr>
          <c:invertIfNegative val="0"/>
          <c:cat>
            <c:strRef>
              <c:f>FromPython!$A$78:$A$81</c:f>
              <c:strCache>
                <c:ptCount val="4"/>
                <c:pt idx="0">
                  <c:v>Yes</c:v>
                </c:pt>
                <c:pt idx="1">
                  <c:v>No</c:v>
                </c:pt>
                <c:pt idx="2">
                  <c:v>Not found</c:v>
                </c:pt>
                <c:pt idx="3">
                  <c:v>Not assessed</c:v>
                </c:pt>
              </c:strCache>
              <c:extLst/>
            </c:strRef>
          </c:cat>
          <c:val>
            <c:numRef>
              <c:f>FromPython!$C$78:$C$81</c:f>
              <c:numCache>
                <c:formatCode>General</c:formatCode>
                <c:ptCount val="4"/>
                <c:pt idx="0">
                  <c:v>1</c:v>
                </c:pt>
                <c:pt idx="1">
                  <c:v>20</c:v>
                </c:pt>
                <c:pt idx="2">
                  <c:v>0</c:v>
                </c:pt>
                <c:pt idx="3">
                  <c:v>2</c:v>
                </c:pt>
              </c:numCache>
              <c:extLst/>
            </c:numRef>
          </c:val>
          <c:extLst>
            <c:ext xmlns:c16="http://schemas.microsoft.com/office/drawing/2014/chart" uri="{C3380CC4-5D6E-409C-BE32-E72D297353CC}">
              <c16:uniqueId val="{00000001-641F-4672-B61B-A0811E802A30}"/>
            </c:ext>
          </c:extLst>
        </c:ser>
        <c:dLbls>
          <c:showLegendKey val="0"/>
          <c:showVal val="0"/>
          <c:showCatName val="0"/>
          <c:showSerName val="0"/>
          <c:showPercent val="0"/>
          <c:showBubbleSize val="0"/>
        </c:dLbls>
        <c:gapWidth val="219"/>
        <c:overlap val="-27"/>
        <c:axId val="26534320"/>
        <c:axId val="26516080"/>
      </c:barChart>
      <c:catAx>
        <c:axId val="2653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16080"/>
        <c:crosses val="autoZero"/>
        <c:auto val="1"/>
        <c:lblAlgn val="ctr"/>
        <c:lblOffset val="100"/>
        <c:noMultiLvlLbl val="0"/>
      </c:catAx>
      <c:valAx>
        <c:axId val="26516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534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A_C659895E.xml><?xml version="1.0" encoding="utf-8"?>
<p188:cmLst xmlns:a="http://schemas.openxmlformats.org/drawingml/2006/main" xmlns:r="http://schemas.openxmlformats.org/officeDocument/2006/relationships" xmlns:p188="http://schemas.microsoft.com/office/powerpoint/2018/8/main">
  <p188:cm id="{0EE4083F-E6EA-4B9D-A206-52C656F47BA1}" authorId="{7A9F9252-3D97-9E11-22C8-9AD8F05460E5}" created="2024-04-21T22:49:55.073">
    <ac:deMkLst xmlns:ac="http://schemas.microsoft.com/office/drawing/2013/main/command">
      <pc:docMk xmlns:pc="http://schemas.microsoft.com/office/powerpoint/2013/main/command"/>
      <pc:sldMk xmlns:pc="http://schemas.microsoft.com/office/powerpoint/2013/main/command" cId="3327756638" sldId="266"/>
      <ac:graphicFrameMk id="4" creationId="{6092668B-2B05-973B-A5E8-246677A31F21}"/>
    </ac:deMkLst>
    <p188:txBody>
      <a:bodyPr/>
      <a:lstStyle/>
      <a:p>
        <a:r>
          <a:rPr lang="en-US"/>
          <a:t>Maybe we should only keep this one</a:t>
        </a:r>
      </a:p>
    </p188:txBody>
  </p188:cm>
</p188:cmLst>
</file>

<file path=ppt/comments/modernComment_10C_183C6A2E.xml><?xml version="1.0" encoding="utf-8"?>
<p188:cmLst xmlns:a="http://schemas.openxmlformats.org/drawingml/2006/main" xmlns:r="http://schemas.openxmlformats.org/officeDocument/2006/relationships" xmlns:p188="http://schemas.microsoft.com/office/powerpoint/2018/8/main">
  <p188:cm id="{94D36829-EDCE-4930-A130-2487535EE917}" authorId="{7A9F9252-3D97-9E11-22C8-9AD8F05460E5}" created="2024-04-21T22:56:45.426">
    <ac:deMkLst xmlns:ac="http://schemas.microsoft.com/office/drawing/2013/main/command">
      <pc:docMk xmlns:pc="http://schemas.microsoft.com/office/powerpoint/2013/main/command"/>
      <pc:sldMk xmlns:pc="http://schemas.microsoft.com/office/powerpoint/2013/main/command" cId="406612526" sldId="268"/>
      <ac:graphicFrameMk id="12" creationId="{B5CB4AC6-26B7-C4DC-14B1-4D8A47B45F8F}"/>
    </ac:deMkLst>
    <p188:txBody>
      <a:bodyPr/>
      <a:lstStyle/>
      <a:p>
        <a:r>
          <a:rPr lang="en-US"/>
          <a:t>Or should we show the one which excludes the transition cases?
With that, the orange bar for Mannheim is taller than the blue one (see latest version of the docx for reference, fig 3b.</a:t>
        </a:r>
      </a:p>
    </p188:txBody>
  </p188:cm>
</p188:cmLst>
</file>

<file path=ppt/comments/modernComment_10E_86C081EA.xml><?xml version="1.0" encoding="utf-8"?>
<p188:cmLst xmlns:a="http://schemas.openxmlformats.org/drawingml/2006/main" xmlns:r="http://schemas.openxmlformats.org/officeDocument/2006/relationships" xmlns:p188="http://schemas.microsoft.com/office/powerpoint/2018/8/main">
  <p188:cm id="{398D03A2-04D1-4B24-9541-7C9B3DF224B1}" authorId="{7A9F9252-3D97-9E11-22C8-9AD8F05460E5}" created="2024-04-21T22:58:50.215">
    <ac:deMkLst xmlns:ac="http://schemas.microsoft.com/office/drawing/2013/main/command">
      <pc:docMk xmlns:pc="http://schemas.microsoft.com/office/powerpoint/2013/main/command"/>
      <pc:sldMk xmlns:pc="http://schemas.microsoft.com/office/powerpoint/2013/main/command" cId="2260763114" sldId="270"/>
      <ac:graphicFrameMk id="11" creationId="{0B731F7C-E529-B3E0-29D3-74B8958748D4}"/>
    </ac:deMkLst>
    <p188:txBody>
      <a:bodyPr/>
      <a:lstStyle/>
      <a:p>
        <a:r>
          <a:rPr lang="en-US"/>
          <a:t>I thought that contact was better than first offer, that would be Fig 7 in the docx.</a:t>
        </a:r>
      </a:p>
    </p188:txBody>
  </p188:cm>
</p188:cmLst>
</file>

<file path=ppt/comments/modernComment_107_34B228A1.xml><?xml version="1.0" encoding="utf-8"?>
<p188:cmLst xmlns:a="http://schemas.openxmlformats.org/drawingml/2006/main" xmlns:r="http://schemas.openxmlformats.org/officeDocument/2006/relationships" xmlns:p188="http://schemas.microsoft.com/office/powerpoint/2018/8/main">
  <p188:cm id="{61006D35-3A54-42D9-8532-B4E7A4E49315}" authorId="{7A9F9252-3D97-9E11-22C8-9AD8F05460E5}" created="2024-04-21T21:43:54.158">
    <ac:txMkLst xmlns:ac="http://schemas.microsoft.com/office/drawing/2013/main/command">
      <pc:docMk xmlns:pc="http://schemas.microsoft.com/office/powerpoint/2013/main/command"/>
      <pc:sldMk xmlns:pc="http://schemas.microsoft.com/office/powerpoint/2013/main/command" cId="884091041" sldId="263"/>
      <ac:spMk id="3" creationId="{B7F6F5B8-9034-AEEA-3EB2-E7B3D43DC2DE}"/>
      <ac:txMk cp="211" len="32">
        <ac:context len="643" hash="1766555009"/>
      </ac:txMk>
    </ac:txMkLst>
    <p188:pos x="4886739" y="1583497"/>
    <p188:txBody>
      <a:bodyPr/>
      <a:lstStyle/>
      <a:p>
        <a:r>
          <a:rPr lang="en-US"/>
          <a:t>This is just for some of the analysis</a:t>
        </a:r>
      </a:p>
    </p188:txBody>
  </p188:cm>
  <p188:cm id="{BF36F17A-A6E6-4159-BA81-696CDFE0F0BB}" authorId="{7A9F9252-3D97-9E11-22C8-9AD8F05460E5}" created="2024-04-21T21:50:13.447">
    <ac:txMkLst xmlns:ac="http://schemas.microsoft.com/office/drawing/2013/main/command">
      <pc:docMk xmlns:pc="http://schemas.microsoft.com/office/powerpoint/2013/main/command"/>
      <pc:sldMk xmlns:pc="http://schemas.microsoft.com/office/powerpoint/2013/main/command" cId="884091041" sldId="263"/>
      <ac:spMk id="3" creationId="{B7F6F5B8-9034-AEEA-3EB2-E7B3D43DC2DE}"/>
      <ac:txMk cp="465" len="103">
        <ac:context len="643" hash="1766555009"/>
      </ac:txMk>
    </ac:txMkLst>
    <p188:pos x="10055087" y="2875584"/>
    <p188:txBody>
      <a:bodyPr/>
      <a:lstStyle/>
      <a:p>
        <a:r>
          <a:rPr lang="en-US"/>
          <a:t>Should we mention darts-ip or Kather herer?</a:t>
        </a:r>
      </a:p>
    </p188:txBody>
  </p188:cm>
</p188:cmLst>
</file>

<file path=ppt/comments/modernComment_108_3297AC75.xml><?xml version="1.0" encoding="utf-8"?>
<p188:cmLst xmlns:a="http://schemas.openxmlformats.org/drawingml/2006/main" xmlns:r="http://schemas.openxmlformats.org/officeDocument/2006/relationships" xmlns:p188="http://schemas.microsoft.com/office/powerpoint/2018/8/main">
  <p188:cm id="{CB8E54AE-88D1-4E9F-B592-F3B974F334E2}" authorId="{7A9F9252-3D97-9E11-22C8-9AD8F05460E5}" created="2024-04-21T21:57:18.201">
    <ac:txMkLst xmlns:ac="http://schemas.microsoft.com/office/drawing/2013/main/command">
      <pc:docMk xmlns:pc="http://schemas.microsoft.com/office/powerpoint/2013/main/command"/>
      <pc:sldMk xmlns:pc="http://schemas.microsoft.com/office/powerpoint/2013/main/command" cId="848800885" sldId="264"/>
      <ac:spMk id="3" creationId="{E971AC2B-C0A7-0C37-4360-135B2CE2CF6E}"/>
      <ac:txMk cp="916" len="11">
        <ac:context len="977" hash="3670871599"/>
      </ac:txMk>
    </ac:txMkLst>
    <p188:pos x="9796670" y="5252991"/>
    <p188:txBody>
      <a:bodyPr/>
      <a:lstStyle/>
      <a:p>
        <a:r>
          <a:rPr lang="en-US"/>
          <a:t>Only unique values, we have 20 more if we consider that some disputes had many cases.</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67D6-E925-D653-61A6-1CFCFDEA06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ECCEE2-283F-B4E5-E7A0-B6EA68BF7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FB8097-9694-FF56-3D7A-92AAA94F2BBC}"/>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6586A47F-A195-BB15-2F5E-053F6E8CA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5081E-4261-DE0F-2B74-E401A390B8C0}"/>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59231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EAB5-80DB-A4B6-808F-7494EB67A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A4445A-992D-788B-36A6-4BFF0CB082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99875-7856-BBF1-6978-295D853A7996}"/>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817D004B-8EBF-C899-5492-E7AD1C0AE4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D0268-1106-EFED-9DDD-2371D9B29BB1}"/>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593917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96AB7-652D-DEFD-4811-37F6DF300E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BEABBE-6252-E424-8D33-0A0392B94E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4CC3C3-0114-AC54-95A1-2BBF28178FF1}"/>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83E771B5-23BF-163F-B251-5CACBCCEA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3E42D-3B18-1988-A165-D50B7AADD59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49209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988F-EFFB-7198-02FC-98760D5ED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7C3704-6E02-1F90-50D3-4734EB212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09C077-17C5-2D58-EB51-65D79ACD77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FC3BFA-61F5-0D39-C738-EF98342144B8}"/>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6" name="Footer Placeholder 5">
            <a:extLst>
              <a:ext uri="{FF2B5EF4-FFF2-40B4-BE49-F238E27FC236}">
                <a16:creationId xmlns:a16="http://schemas.microsoft.com/office/drawing/2014/main" id="{383C23B3-8664-BAA5-83A4-93778E48B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9C7BC4-EB41-6615-E1AA-E31E6E1333F5}"/>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26783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99DF8-2CE9-EA0D-F48A-48751865EE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0288DE-82C5-B6B1-AFF4-6359AA962C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CA8A59-40C8-237E-81FE-B09FF4FBAA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506EC-BD59-0D51-872F-A717BC770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AFBB43-147C-8C48-72BD-CE9E3971D9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D2E57B-1600-7775-A3FA-5FA77BBBF998}"/>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8" name="Footer Placeholder 7">
            <a:extLst>
              <a:ext uri="{FF2B5EF4-FFF2-40B4-BE49-F238E27FC236}">
                <a16:creationId xmlns:a16="http://schemas.microsoft.com/office/drawing/2014/main" id="{71F3E538-4833-0E59-9FBD-5D3E9BA1F2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D69C1E-B7C3-041D-DA6C-A5F7ABB5C20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07026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A55E9-005E-8F26-ED57-1BABF2A31A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F97C51-A694-C55C-ADD9-CD4FD1C037F8}"/>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4" name="Footer Placeholder 3">
            <a:extLst>
              <a:ext uri="{FF2B5EF4-FFF2-40B4-BE49-F238E27FC236}">
                <a16:creationId xmlns:a16="http://schemas.microsoft.com/office/drawing/2014/main" id="{A6D3C4BB-5983-906B-C256-32BFE986AC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330C70-271E-AA23-074C-2D7B15FF69AB}"/>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945212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A1B90-9378-57BA-9E91-BFFB377961F0}"/>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3" name="Footer Placeholder 2">
            <a:extLst>
              <a:ext uri="{FF2B5EF4-FFF2-40B4-BE49-F238E27FC236}">
                <a16:creationId xmlns:a16="http://schemas.microsoft.com/office/drawing/2014/main" id="{B0C03C17-CF51-A916-20F6-B538C903A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461404-039A-0798-A7F7-68DDB5F48B9F}"/>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795160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7A3A4-D093-B30F-6A6B-BDD71D97C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5F60B-C271-6AF9-9FCE-2F0381E12E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5131C1-BDC8-8A9C-101F-E5EEB0D871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6EA723-BAB1-F325-87E1-98F1FF82F979}"/>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6" name="Footer Placeholder 5">
            <a:extLst>
              <a:ext uri="{FF2B5EF4-FFF2-40B4-BE49-F238E27FC236}">
                <a16:creationId xmlns:a16="http://schemas.microsoft.com/office/drawing/2014/main" id="{EE091A6E-9431-683E-FB02-B8B93ECA1E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65B2B-1249-FD1E-4EDF-DDAFA9EE8236}"/>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624124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AF27-8F7A-CF8F-059A-A1674A82C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3A32AC-1D01-9458-3ACD-6F3CA7816B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CAE73C-E3F6-0580-4672-F4217EEF2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50A31-38C4-0691-F9DC-E34083A30D9E}"/>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6" name="Footer Placeholder 5">
            <a:extLst>
              <a:ext uri="{FF2B5EF4-FFF2-40B4-BE49-F238E27FC236}">
                <a16:creationId xmlns:a16="http://schemas.microsoft.com/office/drawing/2014/main" id="{653DAB48-7C47-F726-9706-0D969C5C0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3BDF8-28B5-7617-553D-F43B533BF290}"/>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4009577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091A-F649-DA3B-751B-3A35D9B09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770269-ACA1-90C8-DBA1-619C2C0F38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1B471-1BF5-A72B-8940-0A9CAD1178B9}"/>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96F5060D-F550-1FBD-D85E-D51BF3395E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2BA64-CAA0-998E-95AC-850225F87522}"/>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392867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10781C-48EE-CC2C-EC1E-9DA2F14F07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11AEB9-3421-6D95-275C-141B6A6C4E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61E9D-EDB9-04FC-B5A6-88E546B05DA0}"/>
              </a:ext>
            </a:extLst>
          </p:cNvPr>
          <p:cNvSpPr>
            <a:spLocks noGrp="1"/>
          </p:cNvSpPr>
          <p:nvPr>
            <p:ph type="dt" sz="half" idx="10"/>
          </p:nvPr>
        </p:nvSpPr>
        <p:spPr/>
        <p:txBody>
          <a:body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1596C4D2-5154-52F4-8044-74AB756E8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B752F-9733-A4BC-9364-3E8C2AB53B83}"/>
              </a:ext>
            </a:extLst>
          </p:cNvPr>
          <p:cNvSpPr>
            <a:spLocks noGrp="1"/>
          </p:cNvSpPr>
          <p:nvPr>
            <p:ph type="sldNum" sz="quarter" idx="12"/>
          </p:nvPr>
        </p:nvSpPr>
        <p:spPr/>
        <p:txBody>
          <a:bodyPr/>
          <a:lstStyle/>
          <a:p>
            <a:fld id="{849497D9-6292-437D-8635-EF26BE7AFD26}" type="slidenum">
              <a:rPr lang="en-US" smtClean="0"/>
              <a:t>‹#›</a:t>
            </a:fld>
            <a:endParaRPr lang="en-US"/>
          </a:p>
        </p:txBody>
      </p:sp>
    </p:spTree>
    <p:extLst>
      <p:ext uri="{BB962C8B-B14F-4D97-AF65-F5344CB8AC3E}">
        <p14:creationId xmlns:p14="http://schemas.microsoft.com/office/powerpoint/2010/main" val="258042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FD7679-93D9-A046-7456-401C67443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D73807-8BE9-1F1F-035B-FB63C475E0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05A1F-3A9D-5248-E97F-87ED1D56A2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4258E6-4831-47BC-8FC5-96158FD403F1}" type="datetimeFigureOut">
              <a:rPr lang="en-US" smtClean="0"/>
              <a:t>4/21/2024</a:t>
            </a:fld>
            <a:endParaRPr lang="en-US"/>
          </a:p>
        </p:txBody>
      </p:sp>
      <p:sp>
        <p:nvSpPr>
          <p:cNvPr id="5" name="Footer Placeholder 4">
            <a:extLst>
              <a:ext uri="{FF2B5EF4-FFF2-40B4-BE49-F238E27FC236}">
                <a16:creationId xmlns:a16="http://schemas.microsoft.com/office/drawing/2014/main" id="{4E6E3C2B-E4C5-3D79-C2A8-658C33399B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E297574-4E95-4464-3163-4EF53E1702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9497D9-6292-437D-8635-EF26BE7AFD26}" type="slidenum">
              <a:rPr lang="en-US" smtClean="0"/>
              <a:t>‹#›</a:t>
            </a:fld>
            <a:endParaRPr lang="en-US"/>
          </a:p>
        </p:txBody>
      </p:sp>
    </p:spTree>
    <p:extLst>
      <p:ext uri="{BB962C8B-B14F-4D97-AF65-F5344CB8AC3E}">
        <p14:creationId xmlns:p14="http://schemas.microsoft.com/office/powerpoint/2010/main" val="4202558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7_34B228A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3297AC7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0A_C659895E.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C_183C6A2E.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E_86C081EA.xml"/><Relationship Id="rId1" Type="http://schemas.openxmlformats.org/officeDocument/2006/relationships/slideLayout" Target="../slideLayouts/slideLayout6.xml"/><Relationship Id="rId5" Type="http://schemas.openxmlformats.org/officeDocument/2006/relationships/chart" Target="../charts/chart7.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84E1-A2E0-5392-EC5E-C92B4440F3AF}"/>
              </a:ext>
            </a:extLst>
          </p:cNvPr>
          <p:cNvSpPr>
            <a:spLocks noGrp="1"/>
          </p:cNvSpPr>
          <p:nvPr>
            <p:ph type="ctrTitle"/>
          </p:nvPr>
        </p:nvSpPr>
        <p:spPr/>
        <p:txBody>
          <a:bodyPr>
            <a:normAutofit fontScale="90000"/>
          </a:bodyPr>
          <a:lstStyle/>
          <a:p>
            <a:r>
              <a:rPr lang="en-US" dirty="0"/>
              <a:t>Empirical Analysis of the German Caselaw on SEP </a:t>
            </a:r>
            <a:r>
              <a:rPr lang="en-US" sz="4900" dirty="0"/>
              <a:t>Injunctions after Huawei v ZTE</a:t>
            </a:r>
            <a:endParaRPr lang="en-US" dirty="0"/>
          </a:p>
        </p:txBody>
      </p:sp>
      <p:sp>
        <p:nvSpPr>
          <p:cNvPr id="3" name="Subtitle 2">
            <a:extLst>
              <a:ext uri="{FF2B5EF4-FFF2-40B4-BE49-F238E27FC236}">
                <a16:creationId xmlns:a16="http://schemas.microsoft.com/office/drawing/2014/main" id="{86296FE2-4B85-641F-FBB3-2C3FF4F5C6C6}"/>
              </a:ext>
            </a:extLst>
          </p:cNvPr>
          <p:cNvSpPr>
            <a:spLocks noGrp="1"/>
          </p:cNvSpPr>
          <p:nvPr>
            <p:ph type="subTitle" idx="1"/>
          </p:nvPr>
        </p:nvSpPr>
        <p:spPr/>
        <p:txBody>
          <a:bodyPr/>
          <a:lstStyle/>
          <a:p>
            <a:r>
              <a:rPr lang="en-US" sz="3200" dirty="0"/>
              <a:t>Dr. Justus A. Baron</a:t>
            </a:r>
          </a:p>
          <a:p>
            <a:r>
              <a:rPr lang="en-US" dirty="0"/>
              <a:t>Northwestern University &amp; BRELA Bureau </a:t>
            </a:r>
            <a:r>
              <a:rPr lang="en-US" dirty="0" err="1"/>
              <a:t>d’Etudes</a:t>
            </a:r>
            <a:endParaRPr lang="en-US" dirty="0"/>
          </a:p>
        </p:txBody>
      </p:sp>
    </p:spTree>
    <p:extLst>
      <p:ext uri="{BB962C8B-B14F-4D97-AF65-F5344CB8AC3E}">
        <p14:creationId xmlns:p14="http://schemas.microsoft.com/office/powerpoint/2010/main" val="739707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1929-3381-BED7-A800-FC875298113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9672F08-4FDF-6E0A-FF51-E8E75E772356}"/>
              </a:ext>
            </a:extLst>
          </p:cNvPr>
          <p:cNvSpPr>
            <a:spLocks noGrp="1"/>
          </p:cNvSpPr>
          <p:nvPr>
            <p:ph idx="1"/>
          </p:nvPr>
        </p:nvSpPr>
        <p:spPr/>
        <p:txBody>
          <a:bodyPr>
            <a:normAutofit fontScale="85000" lnSpcReduction="10000"/>
          </a:bodyPr>
          <a:lstStyle/>
          <a:p>
            <a:r>
              <a:rPr lang="en-US" dirty="0"/>
              <a:t>Important technology standards such as 5G, </a:t>
            </a:r>
            <a:r>
              <a:rPr lang="en-US" dirty="0" err="1"/>
              <a:t>WiFi</a:t>
            </a:r>
            <a:r>
              <a:rPr lang="en-US" dirty="0"/>
              <a:t> 6, and HEVC are governed by numerous Standard-Essential Patents (SEPs) owned by various firms.</a:t>
            </a:r>
          </a:p>
          <a:p>
            <a:r>
              <a:rPr lang="en-US" dirty="0"/>
              <a:t>Disputes over SEP licenses often lead to litigation in different national court systems worldwide.</a:t>
            </a:r>
          </a:p>
          <a:p>
            <a:r>
              <a:rPr lang="en-US" dirty="0"/>
              <a:t>Two global approaches have emerged: determining Fair, Reasonable, and Non-Discriminatory (FRAND) royalty rates and handling injunctive relief differently.</a:t>
            </a:r>
          </a:p>
          <a:p>
            <a:r>
              <a:rPr lang="en-US" dirty="0"/>
              <a:t>Differences in court approaches create friction and parallel litigations.</a:t>
            </a:r>
          </a:p>
          <a:p>
            <a:r>
              <a:rPr lang="en-US" dirty="0"/>
              <a:t>In some countries like the US, Japan, and Korea, obtaining injunctive relief for SEP owners is challenging.</a:t>
            </a:r>
          </a:p>
          <a:p>
            <a:r>
              <a:rPr lang="en-US" dirty="0"/>
              <a:t>However, SEP injunctions still occur in jurisdictions like Germany, the Netherlands, and China, with Germany being a prominent venue.</a:t>
            </a:r>
          </a:p>
        </p:txBody>
      </p:sp>
    </p:spTree>
    <p:extLst>
      <p:ext uri="{BB962C8B-B14F-4D97-AF65-F5344CB8AC3E}">
        <p14:creationId xmlns:p14="http://schemas.microsoft.com/office/powerpoint/2010/main" val="2315776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DAC02-33EF-D849-742F-4AD174800B17}"/>
              </a:ext>
            </a:extLst>
          </p:cNvPr>
          <p:cNvSpPr>
            <a:spLocks noGrp="1"/>
          </p:cNvSpPr>
          <p:nvPr>
            <p:ph idx="1"/>
          </p:nvPr>
        </p:nvSpPr>
        <p:spPr>
          <a:xfrm>
            <a:off x="838200" y="688257"/>
            <a:ext cx="10515600" cy="5488705"/>
          </a:xfrm>
        </p:spPr>
        <p:txBody>
          <a:bodyPr>
            <a:normAutofit lnSpcReduction="10000"/>
          </a:bodyPr>
          <a:lstStyle/>
          <a:p>
            <a:r>
              <a:rPr lang="en-US" sz="2400" dirty="0"/>
              <a:t>Injunctions issued by German courts can have worldwide effects, influencing negotiations.</a:t>
            </a:r>
          </a:p>
          <a:p>
            <a:r>
              <a:rPr lang="en-US" sz="2400" dirty="0"/>
              <a:t>Concerns about German jurisprudence on SEP litigation have prompted actions such as seeking anti-suit injunctions in foreign jurisdictions.</a:t>
            </a:r>
          </a:p>
          <a:p>
            <a:r>
              <a:rPr lang="en-US" sz="2400" dirty="0"/>
              <a:t>Criticisms of German courts overlook recent changes in SEP injunction jurisprudence.</a:t>
            </a:r>
          </a:p>
          <a:p>
            <a:r>
              <a:rPr lang="en-US" sz="2400" dirty="0"/>
              <a:t>The European Court of Justice's (ECJ) Huawei v ZTE decision introduced a framework for negotiating SEP licenses.</a:t>
            </a:r>
          </a:p>
          <a:p>
            <a:r>
              <a:rPr lang="en-US" sz="2400" dirty="0"/>
              <a:t>German courts have referenced and applied this framework, though interpretations vary.</a:t>
            </a:r>
          </a:p>
          <a:p>
            <a:r>
              <a:rPr lang="en-US" sz="2400" dirty="0"/>
              <a:t>Recent attention to SEP litigation in Germany has influenced EU policy, leading to proposed regulations aiming to increase consistency and reduce litigation.</a:t>
            </a:r>
          </a:p>
          <a:p>
            <a:r>
              <a:rPr lang="en-US" sz="2400" dirty="0"/>
              <a:t>The establishment of the Unified Patent Court (UPC) adds complexity to SEP injunction matters.</a:t>
            </a:r>
          </a:p>
        </p:txBody>
      </p:sp>
    </p:spTree>
    <p:extLst>
      <p:ext uri="{BB962C8B-B14F-4D97-AF65-F5344CB8AC3E}">
        <p14:creationId xmlns:p14="http://schemas.microsoft.com/office/powerpoint/2010/main" val="403793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51923-5DD3-9180-F801-250A22A3D5A0}"/>
              </a:ext>
            </a:extLst>
          </p:cNvPr>
          <p:cNvSpPr>
            <a:spLocks noGrp="1"/>
          </p:cNvSpPr>
          <p:nvPr>
            <p:ph idx="1"/>
          </p:nvPr>
        </p:nvSpPr>
        <p:spPr>
          <a:xfrm>
            <a:off x="838200" y="816077"/>
            <a:ext cx="10515600" cy="5360886"/>
          </a:xfrm>
        </p:spPr>
        <p:txBody>
          <a:bodyPr/>
          <a:lstStyle/>
          <a:p>
            <a:r>
              <a:rPr lang="en-US" sz="2400" dirty="0"/>
              <a:t>Our study focuses on the empirical analysis of German caselaw on SEP injunctions, aiming to describe outcomes rather than contribute to legal interpretation.</a:t>
            </a:r>
          </a:p>
          <a:p>
            <a:r>
              <a:rPr lang="en-US" sz="2400" dirty="0"/>
              <a:t>We examine the success of FRAND defenses in German courts, reasons for SEP holders or implementers prevailing, and factors influencing litigation outcomes.</a:t>
            </a:r>
          </a:p>
          <a:p>
            <a:r>
              <a:rPr lang="en-US" sz="2400" dirty="0"/>
              <a:t>Our dataset includes 71 regional court decisions involving FRAND defenses and injunction requests.</a:t>
            </a:r>
          </a:p>
          <a:p>
            <a:r>
              <a:rPr lang="en-US" sz="2400" dirty="0"/>
              <a:t>Through our analysis, we provide insights into the policy-relevant issue of SEP litigation outcomes in German courts.</a:t>
            </a:r>
          </a:p>
          <a:p>
            <a:r>
              <a:rPr lang="en-US" sz="2400" dirty="0"/>
              <a:t>Our findings highlight a balanced caselaw but also underscore concerns such as bifurcation and limited reviews of FRAND compliance.</a:t>
            </a:r>
          </a:p>
          <a:p>
            <a:endParaRPr lang="en-US" dirty="0"/>
          </a:p>
        </p:txBody>
      </p:sp>
    </p:spTree>
    <p:extLst>
      <p:ext uri="{BB962C8B-B14F-4D97-AF65-F5344CB8AC3E}">
        <p14:creationId xmlns:p14="http://schemas.microsoft.com/office/powerpoint/2010/main" val="230762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4D7B-A4E6-8C2E-DA69-999E89FDD999}"/>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6C9BA566-CF1A-D60C-A646-A90E06373BCA}"/>
              </a:ext>
            </a:extLst>
          </p:cNvPr>
          <p:cNvSpPr>
            <a:spLocks noGrp="1"/>
          </p:cNvSpPr>
          <p:nvPr>
            <p:ph idx="1"/>
          </p:nvPr>
        </p:nvSpPr>
        <p:spPr/>
        <p:txBody>
          <a:bodyPr>
            <a:normAutofit lnSpcReduction="10000"/>
          </a:bodyPr>
          <a:lstStyle/>
          <a:p>
            <a:r>
              <a:rPr lang="en-US" sz="2400" dirty="0" err="1"/>
              <a:t>Gniadek</a:t>
            </a:r>
            <a:r>
              <a:rPr lang="en-US" sz="2400" dirty="0"/>
              <a:t> (2016): Reviewed post-Huawei v ZTE decisions, indicating a patentee-friendly approach by German courts.</a:t>
            </a:r>
          </a:p>
          <a:p>
            <a:r>
              <a:rPr lang="en-US" sz="2400" dirty="0"/>
              <a:t>Pentheroudakis and Baron (2017): Analyzed SEP litigation decisions globally, highlighting divergences in German courts' approaches.</a:t>
            </a:r>
          </a:p>
          <a:p>
            <a:r>
              <a:rPr lang="en-US" sz="2400" dirty="0"/>
              <a:t>Nolte and Rosenblum (2017): Focused on German caselaw on injunctions in SEP cases, reviewing 22 post-Huawei decisions.</a:t>
            </a:r>
          </a:p>
          <a:p>
            <a:r>
              <a:rPr lang="en-US" sz="2400" dirty="0"/>
              <a:t>Tapia and </a:t>
            </a:r>
            <a:r>
              <a:rPr lang="en-US" sz="2400" dirty="0" err="1"/>
              <a:t>Markis</a:t>
            </a:r>
            <a:r>
              <a:rPr lang="en-US" sz="2400" dirty="0"/>
              <a:t> (2018): Examined German court decisions to elucidate Huawei v ZTE requirements for patent owners and licensees.</a:t>
            </a:r>
          </a:p>
          <a:p>
            <a:r>
              <a:rPr lang="en-US" sz="2400" dirty="0" err="1"/>
              <a:t>Picht</a:t>
            </a:r>
            <a:r>
              <a:rPr lang="en-US" sz="2400" dirty="0"/>
              <a:t> (2019): Discussed German law on patent injunctions, including competition law considerations and impacts of Huawei v ZTE.</a:t>
            </a:r>
          </a:p>
          <a:p>
            <a:r>
              <a:rPr lang="en-US" sz="2400" dirty="0"/>
              <a:t>Colangelo and </a:t>
            </a:r>
            <a:r>
              <a:rPr lang="en-US" sz="2400" dirty="0" err="1"/>
              <a:t>Aguggia</a:t>
            </a:r>
            <a:r>
              <a:rPr lang="en-US" sz="2400" dirty="0"/>
              <a:t> (2023): Reviewed recent German caselaw, emphasizing the alignment with Huawei v ZTE standards.</a:t>
            </a:r>
          </a:p>
        </p:txBody>
      </p:sp>
    </p:spTree>
    <p:extLst>
      <p:ext uri="{BB962C8B-B14F-4D97-AF65-F5344CB8AC3E}">
        <p14:creationId xmlns:p14="http://schemas.microsoft.com/office/powerpoint/2010/main" val="3996926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172B38-04ED-5D96-7C19-57E5D4195D37}"/>
              </a:ext>
            </a:extLst>
          </p:cNvPr>
          <p:cNvSpPr>
            <a:spLocks noGrp="1"/>
          </p:cNvSpPr>
          <p:nvPr>
            <p:ph idx="1"/>
          </p:nvPr>
        </p:nvSpPr>
        <p:spPr>
          <a:xfrm>
            <a:off x="838200" y="1052052"/>
            <a:ext cx="10515600" cy="5124911"/>
          </a:xfrm>
        </p:spPr>
        <p:txBody>
          <a:bodyPr>
            <a:normAutofit fontScale="85000" lnSpcReduction="20000"/>
          </a:bodyPr>
          <a:lstStyle/>
          <a:p>
            <a:r>
              <a:rPr lang="en-US" dirty="0" err="1"/>
              <a:t>Habich</a:t>
            </a:r>
            <a:r>
              <a:rPr lang="en-US" dirty="0"/>
              <a:t> (2022): Provided a comprehensive overview in German on FRAND defenses in SEP injunction cases, focusing on regional and appellate court decisions from 2017 to 2019.</a:t>
            </a:r>
          </a:p>
          <a:p>
            <a:r>
              <a:rPr lang="en-US" dirty="0"/>
              <a:t>Contreras et al. (2017): Analyzed litigations involving declared SEPs in Germany and the UK, highlighting an increase in assertions driven by NPEs and settlement trends.</a:t>
            </a:r>
          </a:p>
          <a:p>
            <a:r>
              <a:rPr lang="en-US" dirty="0"/>
              <a:t>Baron et al. (2023): Identified the significant role of German courts in SEP litigation in Europe and analyzed the timing and frequency of disputes.</a:t>
            </a:r>
          </a:p>
          <a:p>
            <a:r>
              <a:rPr lang="en-US" dirty="0" err="1"/>
              <a:t>Cremers</a:t>
            </a:r>
            <a:r>
              <a:rPr lang="en-US" dirty="0"/>
              <a:t> et al. (2016): Investigated patent litigation cases in Europe, noting the occurrence of "parallel litigations" and "injunction gaps."</a:t>
            </a:r>
          </a:p>
          <a:p>
            <a:r>
              <a:rPr lang="en-US" dirty="0"/>
              <a:t>Literature Gap: Despite numerous reviews, there's a lack of comprehensive empirical studies on German court decisions regarding SEP injunctions. Existing studies focus on earlier periods or specific aspects, leaving a gap in analyzing FRAND defenses under Huawei v ZTE.</a:t>
            </a:r>
          </a:p>
          <a:p>
            <a:r>
              <a:rPr lang="en-US" dirty="0"/>
              <a:t>Empirical Studies in the US: Contrasts with the growing body of empirical studies in the US, providing statistical evidence on outcomes and procedural events in SEP disputes.</a:t>
            </a:r>
          </a:p>
        </p:txBody>
      </p:sp>
    </p:spTree>
    <p:extLst>
      <p:ext uri="{BB962C8B-B14F-4D97-AF65-F5344CB8AC3E}">
        <p14:creationId xmlns:p14="http://schemas.microsoft.com/office/powerpoint/2010/main" val="1891872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927AC-38AE-4DE7-6565-DC8E147B9AD5}"/>
              </a:ext>
            </a:extLst>
          </p:cNvPr>
          <p:cNvSpPr>
            <a:spLocks noGrp="1"/>
          </p:cNvSpPr>
          <p:nvPr>
            <p:ph idx="1"/>
          </p:nvPr>
        </p:nvSpPr>
        <p:spPr>
          <a:xfrm>
            <a:off x="838200" y="1022555"/>
            <a:ext cx="10515600" cy="5154408"/>
          </a:xfrm>
        </p:spPr>
        <p:txBody>
          <a:bodyPr>
            <a:normAutofit/>
          </a:bodyPr>
          <a:lstStyle/>
          <a:p>
            <a:r>
              <a:rPr lang="en-US" sz="2400" dirty="0"/>
              <a:t>Existing German Studies: Primarily focus on pre-Huawei v ZTE decisions and provide limited analysis beyond infringement and invalidity findings.</a:t>
            </a:r>
          </a:p>
          <a:p>
            <a:r>
              <a:rPr lang="en-US" sz="2400" dirty="0"/>
              <a:t>Research Gap: Lack of comprehensive data analysis on the success of FRAND defenses, parties' likelihood of success, and the decisive factors in injunction decisions post-Huawei v ZTE.</a:t>
            </a:r>
          </a:p>
          <a:p>
            <a:r>
              <a:rPr lang="en-US" sz="2400" dirty="0"/>
              <a:t>Our Contribution: Aiming to fill this gap by providing a quantitative overview of German court decisions on SEP injunctions, focusing on the effectiveness of FRAND defenses under the Huawei v ZTE framework.</a:t>
            </a:r>
          </a:p>
        </p:txBody>
      </p:sp>
    </p:spTree>
    <p:extLst>
      <p:ext uri="{BB962C8B-B14F-4D97-AF65-F5344CB8AC3E}">
        <p14:creationId xmlns:p14="http://schemas.microsoft.com/office/powerpoint/2010/main" val="3326466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F98A-925F-8E49-DF13-19C6C1DC4249}"/>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B7F6F5B8-9034-AEEA-3EB2-E7B3D43DC2DE}"/>
              </a:ext>
            </a:extLst>
          </p:cNvPr>
          <p:cNvSpPr>
            <a:spLocks noGrp="1"/>
          </p:cNvSpPr>
          <p:nvPr>
            <p:ph idx="1"/>
          </p:nvPr>
        </p:nvSpPr>
        <p:spPr/>
        <p:txBody>
          <a:bodyPr>
            <a:normAutofit lnSpcReduction="10000"/>
          </a:bodyPr>
          <a:lstStyle/>
          <a:p>
            <a:r>
              <a:rPr lang="en-US" sz="2400" dirty="0"/>
              <a:t>Sample Selection</a:t>
            </a:r>
          </a:p>
          <a:p>
            <a:pPr lvl="1"/>
            <a:r>
              <a:rPr lang="en-US" dirty="0"/>
              <a:t>Defined criteria: Included first instance (</a:t>
            </a:r>
            <a:r>
              <a:rPr lang="en-US" dirty="0" err="1"/>
              <a:t>Landgericht</a:t>
            </a:r>
            <a:r>
              <a:rPr lang="en-US" dirty="0"/>
              <a:t>) court decisions post-Huawei v ZTE ruling (after July 16, 2015).</a:t>
            </a:r>
          </a:p>
          <a:p>
            <a:pPr lvl="1"/>
            <a:r>
              <a:rPr lang="en-US" dirty="0"/>
              <a:t>Transition cases: Decided after Huawei v ZTE ruling but initiated before, treated separately for analysis.</a:t>
            </a:r>
          </a:p>
          <a:p>
            <a:pPr lvl="1"/>
            <a:r>
              <a:rPr lang="en-US" dirty="0"/>
              <a:t>Inclusion criteria: Cases with infringed patents essential to a standard, subject to FRAND commitment, and plaintiff's injunction request.</a:t>
            </a:r>
          </a:p>
          <a:p>
            <a:pPr lvl="1"/>
            <a:r>
              <a:rPr lang="en-US" dirty="0"/>
              <a:t>Exclusion: Cases involving anti-suit or anti-anti-suit injunctions.</a:t>
            </a:r>
          </a:p>
          <a:p>
            <a:pPr lvl="1"/>
            <a:r>
              <a:rPr lang="en-US" dirty="0"/>
              <a:t>Data sources: Leveraged court websites, law firm databases, and prior studies, expanding through a snowball approach.</a:t>
            </a:r>
          </a:p>
          <a:p>
            <a:pPr lvl="1"/>
            <a:r>
              <a:rPr lang="en-US" dirty="0"/>
              <a:t>Dataset: Comprised 71 decisions spanning from August 2015 to August 2023.</a:t>
            </a:r>
          </a:p>
        </p:txBody>
      </p:sp>
    </p:spTree>
    <p:extLst>
      <p:ext uri="{BB962C8B-B14F-4D97-AF65-F5344CB8AC3E}">
        <p14:creationId xmlns:p14="http://schemas.microsoft.com/office/powerpoint/2010/main" val="88409104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AC2B-C0A7-0C37-4360-135B2CE2CF6E}"/>
              </a:ext>
            </a:extLst>
          </p:cNvPr>
          <p:cNvSpPr>
            <a:spLocks noGrp="1"/>
          </p:cNvSpPr>
          <p:nvPr>
            <p:ph idx="1"/>
          </p:nvPr>
        </p:nvSpPr>
        <p:spPr>
          <a:xfrm>
            <a:off x="838200" y="471948"/>
            <a:ext cx="10515600" cy="5705015"/>
          </a:xfrm>
        </p:spPr>
        <p:txBody>
          <a:bodyPr>
            <a:normAutofit fontScale="85000" lnSpcReduction="10000"/>
          </a:bodyPr>
          <a:lstStyle/>
          <a:p>
            <a:r>
              <a:rPr lang="en-US" dirty="0"/>
              <a:t>Coding of Decisions</a:t>
            </a:r>
          </a:p>
          <a:p>
            <a:pPr lvl="1"/>
            <a:r>
              <a:rPr lang="en-US" sz="2600" dirty="0"/>
              <a:t>Extracted immediate information: Case number, court, decision on injunction, dates of relevant events, and amount in dispute.</a:t>
            </a:r>
          </a:p>
          <a:p>
            <a:pPr lvl="1"/>
            <a:r>
              <a:rPr lang="en-US" sz="2600" dirty="0"/>
              <a:t>Identified key dates in dispute through case descriptions: First contact, patent holder's licensing offer, complaint dates, and request for injunction dates.</a:t>
            </a:r>
          </a:p>
          <a:p>
            <a:pPr lvl="1"/>
            <a:r>
              <a:rPr lang="en-US" sz="2600" dirty="0"/>
              <a:t>Created variables for patent holder's licensing offers: Pool licensing and worldwide portfolio license offers.</a:t>
            </a:r>
          </a:p>
          <a:p>
            <a:pPr lvl="1"/>
            <a:r>
              <a:rPr lang="en-US" sz="2600" dirty="0"/>
              <a:t>Coded court decisions following Huawei v ZTE framework:</a:t>
            </a:r>
          </a:p>
          <a:p>
            <a:pPr lvl="2"/>
            <a:r>
              <a:rPr lang="en-US" dirty="0"/>
              <a:t>Dominant position</a:t>
            </a:r>
          </a:p>
          <a:p>
            <a:pPr lvl="2"/>
            <a:r>
              <a:rPr lang="en-US" dirty="0"/>
              <a:t>Abuse of dominant position</a:t>
            </a:r>
          </a:p>
          <a:p>
            <a:pPr lvl="2"/>
            <a:r>
              <a:rPr lang="en-US" dirty="0"/>
              <a:t>Notice of infringement, </a:t>
            </a:r>
          </a:p>
          <a:p>
            <a:pPr lvl="2"/>
            <a:r>
              <a:rPr lang="en-US" dirty="0"/>
              <a:t>Willingness to license</a:t>
            </a:r>
          </a:p>
          <a:p>
            <a:pPr lvl="2"/>
            <a:r>
              <a:rPr lang="en-US" dirty="0"/>
              <a:t>FRAND offer (formally and substantively).</a:t>
            </a:r>
          </a:p>
          <a:p>
            <a:pPr lvl="1"/>
            <a:r>
              <a:rPr lang="en-US" sz="2600" dirty="0"/>
              <a:t>Searched darts-</a:t>
            </a:r>
            <a:r>
              <a:rPr lang="en-US" sz="2600" dirty="0" err="1"/>
              <a:t>ip</a:t>
            </a:r>
            <a:r>
              <a:rPr lang="en-US" sz="2600" dirty="0"/>
              <a:t> database for further legal proceedings: Identified appeals to Higher Regional Court and Federal Court of Justice.</a:t>
            </a:r>
          </a:p>
          <a:p>
            <a:pPr lvl="1"/>
            <a:r>
              <a:rPr lang="en-US" sz="2600" dirty="0"/>
              <a:t>Extracted variables describing outcomes of appeals: Result of appeal, first instance, and judicial review.</a:t>
            </a:r>
          </a:p>
          <a:p>
            <a:pPr lvl="1"/>
            <a:r>
              <a:rPr lang="en-US" sz="2600" dirty="0"/>
              <a:t>Identified patent numbers and searched for validity proceedings: Found 44 parallel validity proceedings related to 64 of the cases.</a:t>
            </a:r>
          </a:p>
        </p:txBody>
      </p:sp>
    </p:spTree>
    <p:extLst>
      <p:ext uri="{BB962C8B-B14F-4D97-AF65-F5344CB8AC3E}">
        <p14:creationId xmlns:p14="http://schemas.microsoft.com/office/powerpoint/2010/main" val="8488008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2531-6220-7C97-751D-EF2609F0FA4B}"/>
              </a:ext>
            </a:extLst>
          </p:cNvPr>
          <p:cNvSpPr>
            <a:spLocks noGrp="1"/>
          </p:cNvSpPr>
          <p:nvPr>
            <p:ph type="title"/>
          </p:nvPr>
        </p:nvSpPr>
        <p:spPr/>
        <p:txBody>
          <a:bodyPr/>
          <a:lstStyle/>
          <a:p>
            <a:r>
              <a:rPr lang="en-US" dirty="0"/>
              <a:t>Descriptive analysis</a:t>
            </a:r>
          </a:p>
        </p:txBody>
      </p:sp>
      <p:graphicFrame>
        <p:nvGraphicFramePr>
          <p:cNvPr id="3" name="Chart 2">
            <a:extLst>
              <a:ext uri="{FF2B5EF4-FFF2-40B4-BE49-F238E27FC236}">
                <a16:creationId xmlns:a16="http://schemas.microsoft.com/office/drawing/2014/main" id="{C9C70BBC-3503-B72F-5C7D-760E04F45662}"/>
              </a:ext>
            </a:extLst>
          </p:cNvPr>
          <p:cNvGraphicFramePr/>
          <p:nvPr>
            <p:extLst>
              <p:ext uri="{D42A27DB-BD31-4B8C-83A1-F6EECF244321}">
                <p14:modId xmlns:p14="http://schemas.microsoft.com/office/powerpoint/2010/main" val="1946578138"/>
              </p:ext>
            </p:extLst>
          </p:nvPr>
        </p:nvGraphicFramePr>
        <p:xfrm>
          <a:off x="838200" y="2359357"/>
          <a:ext cx="5257800" cy="27952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6092668B-2B05-973B-A5E8-246677A31F21}"/>
              </a:ext>
            </a:extLst>
          </p:cNvPr>
          <p:cNvGraphicFramePr/>
          <p:nvPr>
            <p:extLst>
              <p:ext uri="{D42A27DB-BD31-4B8C-83A1-F6EECF244321}">
                <p14:modId xmlns:p14="http://schemas.microsoft.com/office/powerpoint/2010/main" val="1799788452"/>
              </p:ext>
            </p:extLst>
          </p:nvPr>
        </p:nvGraphicFramePr>
        <p:xfrm>
          <a:off x="6449046" y="2107096"/>
          <a:ext cx="5257800" cy="33544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27756638"/>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F0504CF-2A87-E636-D2F1-D436532436C9}"/>
              </a:ext>
            </a:extLst>
          </p:cNvPr>
          <p:cNvGraphicFramePr/>
          <p:nvPr>
            <p:extLst>
              <p:ext uri="{D42A27DB-BD31-4B8C-83A1-F6EECF244321}">
                <p14:modId xmlns:p14="http://schemas.microsoft.com/office/powerpoint/2010/main" val="2965014911"/>
              </p:ext>
            </p:extLst>
          </p:nvPr>
        </p:nvGraphicFramePr>
        <p:xfrm>
          <a:off x="2691847" y="785192"/>
          <a:ext cx="6808305" cy="49099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5057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B2B0ED-19BC-0C3D-A9FC-30197A063209}"/>
              </a:ext>
            </a:extLst>
          </p:cNvPr>
          <p:cNvPicPr>
            <a:picLocks noChangeAspect="1"/>
          </p:cNvPicPr>
          <p:nvPr/>
        </p:nvPicPr>
        <p:blipFill rotWithShape="1">
          <a:blip r:embed="rId3">
            <a:extLst>
              <a:ext uri="{28A0092B-C50C-407E-A947-70E740481C1C}">
                <a14:useLocalDpi xmlns:a14="http://schemas.microsoft.com/office/drawing/2010/main" val="0"/>
              </a:ext>
            </a:extLst>
          </a:blip>
          <a:srcRect l="1739" t="87157" r="2793" b="4838"/>
          <a:stretch/>
        </p:blipFill>
        <p:spPr bwMode="auto">
          <a:xfrm>
            <a:off x="3595046" y="5658058"/>
            <a:ext cx="4602480" cy="281940"/>
          </a:xfrm>
          <a:prstGeom prst="rect">
            <a:avLst/>
          </a:prstGeom>
          <a:noFill/>
          <a:ln>
            <a:noFill/>
          </a:ln>
          <a:extLst>
            <a:ext uri="{53640926-AAD7-44D8-BBD7-CCE9431645EC}">
              <a14:shadowObscured xmlns:a14="http://schemas.microsoft.com/office/drawing/2010/main"/>
            </a:ext>
          </a:extLst>
        </p:spPr>
      </p:pic>
      <p:graphicFrame>
        <p:nvGraphicFramePr>
          <p:cNvPr id="9" name="Chart 8">
            <a:extLst>
              <a:ext uri="{FF2B5EF4-FFF2-40B4-BE49-F238E27FC236}">
                <a16:creationId xmlns:a16="http://schemas.microsoft.com/office/drawing/2014/main" id="{BCB6165D-783C-B3E1-E009-EEE7BDFC537B}"/>
              </a:ext>
            </a:extLst>
          </p:cNvPr>
          <p:cNvGraphicFramePr/>
          <p:nvPr>
            <p:extLst>
              <p:ext uri="{D42A27DB-BD31-4B8C-83A1-F6EECF244321}">
                <p14:modId xmlns:p14="http://schemas.microsoft.com/office/powerpoint/2010/main" val="2166840145"/>
              </p:ext>
            </p:extLst>
          </p:nvPr>
        </p:nvGraphicFramePr>
        <p:xfrm>
          <a:off x="337933" y="1212574"/>
          <a:ext cx="5599043" cy="41184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B5CB4AC6-26B7-C4DC-14B1-4D8A47B45F8F}"/>
              </a:ext>
            </a:extLst>
          </p:cNvPr>
          <p:cNvGraphicFramePr/>
          <p:nvPr>
            <p:extLst>
              <p:ext uri="{D42A27DB-BD31-4B8C-83A1-F6EECF244321}">
                <p14:modId xmlns:p14="http://schemas.microsoft.com/office/powerpoint/2010/main" val="3879819977"/>
              </p:ext>
            </p:extLst>
          </p:nvPr>
        </p:nvGraphicFramePr>
        <p:xfrm>
          <a:off x="6255026" y="1212575"/>
          <a:ext cx="5599041" cy="411844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6612526"/>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B2B0ED-19BC-0C3D-A9FC-30197A063209}"/>
              </a:ext>
            </a:extLst>
          </p:cNvPr>
          <p:cNvPicPr>
            <a:picLocks noChangeAspect="1"/>
          </p:cNvPicPr>
          <p:nvPr/>
        </p:nvPicPr>
        <p:blipFill rotWithShape="1">
          <a:blip r:embed="rId3">
            <a:extLst>
              <a:ext uri="{28A0092B-C50C-407E-A947-70E740481C1C}">
                <a14:useLocalDpi xmlns:a14="http://schemas.microsoft.com/office/drawing/2010/main" val="0"/>
              </a:ext>
            </a:extLst>
          </a:blip>
          <a:srcRect l="1739" t="87157" r="2793" b="4838"/>
          <a:stretch/>
        </p:blipFill>
        <p:spPr bwMode="auto">
          <a:xfrm>
            <a:off x="3595046" y="5658058"/>
            <a:ext cx="4602480" cy="281940"/>
          </a:xfrm>
          <a:prstGeom prst="rect">
            <a:avLst/>
          </a:prstGeom>
          <a:noFill/>
          <a:ln>
            <a:noFill/>
          </a:ln>
          <a:extLst>
            <a:ext uri="{53640926-AAD7-44D8-BBD7-CCE9431645EC}">
              <a14:shadowObscured xmlns:a14="http://schemas.microsoft.com/office/drawing/2010/main"/>
            </a:ext>
          </a:extLst>
        </p:spPr>
      </p:pic>
      <p:graphicFrame>
        <p:nvGraphicFramePr>
          <p:cNvPr id="11" name="Chart 10">
            <a:extLst>
              <a:ext uri="{FF2B5EF4-FFF2-40B4-BE49-F238E27FC236}">
                <a16:creationId xmlns:a16="http://schemas.microsoft.com/office/drawing/2014/main" id="{0B731F7C-E529-B3E0-29D3-74B8958748D4}"/>
              </a:ext>
            </a:extLst>
          </p:cNvPr>
          <p:cNvGraphicFramePr/>
          <p:nvPr>
            <p:extLst>
              <p:ext uri="{D42A27DB-BD31-4B8C-83A1-F6EECF244321}">
                <p14:modId xmlns:p14="http://schemas.microsoft.com/office/powerpoint/2010/main" val="524968009"/>
              </p:ext>
            </p:extLst>
          </p:nvPr>
        </p:nvGraphicFramePr>
        <p:xfrm>
          <a:off x="6255024" y="1212574"/>
          <a:ext cx="5599043" cy="41184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Chart 1">
            <a:extLst>
              <a:ext uri="{FF2B5EF4-FFF2-40B4-BE49-F238E27FC236}">
                <a16:creationId xmlns:a16="http://schemas.microsoft.com/office/drawing/2014/main" id="{DE6F6C6A-C2B0-478B-4B2C-B7CAE3D7DEAA}"/>
              </a:ext>
            </a:extLst>
          </p:cNvPr>
          <p:cNvGraphicFramePr/>
          <p:nvPr>
            <p:extLst>
              <p:ext uri="{D42A27DB-BD31-4B8C-83A1-F6EECF244321}">
                <p14:modId xmlns:p14="http://schemas.microsoft.com/office/powerpoint/2010/main" val="3686067169"/>
              </p:ext>
            </p:extLst>
          </p:nvPr>
        </p:nvGraphicFramePr>
        <p:xfrm>
          <a:off x="337934" y="1212574"/>
          <a:ext cx="5599044" cy="411844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6076311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D59B8ADF-A33E-4393-8207-2D7DF884F316}"/>
              </a:ext>
            </a:extLst>
          </p:cNvPr>
          <p:cNvGraphicFramePr/>
          <p:nvPr>
            <p:extLst>
              <p:ext uri="{D42A27DB-BD31-4B8C-83A1-F6EECF244321}">
                <p14:modId xmlns:p14="http://schemas.microsoft.com/office/powerpoint/2010/main" val="2597172315"/>
              </p:ext>
            </p:extLst>
          </p:nvPr>
        </p:nvGraphicFramePr>
        <p:xfrm>
          <a:off x="676702" y="1703056"/>
          <a:ext cx="5266897" cy="35157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678365A7-D243-48D2-A1C8-002F203FA7BD}"/>
              </a:ext>
            </a:extLst>
          </p:cNvPr>
          <p:cNvGraphicFramePr/>
          <p:nvPr>
            <p:extLst>
              <p:ext uri="{D42A27DB-BD31-4B8C-83A1-F6EECF244321}">
                <p14:modId xmlns:p14="http://schemas.microsoft.com/office/powerpoint/2010/main" val="2111876266"/>
              </p:ext>
            </p:extLst>
          </p:nvPr>
        </p:nvGraphicFramePr>
        <p:xfrm>
          <a:off x="6367673" y="1703054"/>
          <a:ext cx="5147625" cy="3515787"/>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6">
            <a:extLst>
              <a:ext uri="{FF2B5EF4-FFF2-40B4-BE49-F238E27FC236}">
                <a16:creationId xmlns:a16="http://schemas.microsoft.com/office/drawing/2014/main" id="{8D4E092E-3847-6679-B463-61890B9287AB}"/>
              </a:ext>
            </a:extLst>
          </p:cNvPr>
          <p:cNvPicPr>
            <a:picLocks noChangeAspect="1"/>
          </p:cNvPicPr>
          <p:nvPr/>
        </p:nvPicPr>
        <p:blipFill rotWithShape="1">
          <a:blip r:embed="rId4">
            <a:extLst>
              <a:ext uri="{28A0092B-C50C-407E-A947-70E740481C1C}">
                <a14:useLocalDpi xmlns:a14="http://schemas.microsoft.com/office/drawing/2010/main" val="0"/>
              </a:ext>
            </a:extLst>
          </a:blip>
          <a:srcRect l="3221" t="90373" r="5759" b="4483"/>
          <a:stretch/>
        </p:blipFill>
        <p:spPr bwMode="auto">
          <a:xfrm>
            <a:off x="3943350" y="5603682"/>
            <a:ext cx="4305300" cy="1828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00919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A137B34-C5C8-85B5-3918-31FE58807889}"/>
              </a:ext>
            </a:extLst>
          </p:cNvPr>
          <p:cNvGraphicFramePr/>
          <p:nvPr>
            <p:extLst>
              <p:ext uri="{D42A27DB-BD31-4B8C-83A1-F6EECF244321}">
                <p14:modId xmlns:p14="http://schemas.microsoft.com/office/powerpoint/2010/main" val="2870311063"/>
              </p:ext>
            </p:extLst>
          </p:nvPr>
        </p:nvGraphicFramePr>
        <p:xfrm>
          <a:off x="311426" y="1490870"/>
          <a:ext cx="6202017" cy="385010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EA4BC24E-2C43-A425-BE14-CBF2914D9E92}"/>
              </a:ext>
            </a:extLst>
          </p:cNvPr>
          <p:cNvGraphicFramePr/>
          <p:nvPr>
            <p:extLst>
              <p:ext uri="{D42A27DB-BD31-4B8C-83A1-F6EECF244321}">
                <p14:modId xmlns:p14="http://schemas.microsoft.com/office/powerpoint/2010/main" val="3446614274"/>
              </p:ext>
            </p:extLst>
          </p:nvPr>
        </p:nvGraphicFramePr>
        <p:xfrm>
          <a:off x="6771860" y="1490870"/>
          <a:ext cx="5108714" cy="38501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5127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9673F53-3825-2789-B66E-1445EBBC87DE}"/>
              </a:ext>
            </a:extLst>
          </p:cNvPr>
          <p:cNvGraphicFramePr/>
          <p:nvPr>
            <p:extLst>
              <p:ext uri="{D42A27DB-BD31-4B8C-83A1-F6EECF244321}">
                <p14:modId xmlns:p14="http://schemas.microsoft.com/office/powerpoint/2010/main" val="1623030030"/>
              </p:ext>
            </p:extLst>
          </p:nvPr>
        </p:nvGraphicFramePr>
        <p:xfrm>
          <a:off x="308114" y="1282148"/>
          <a:ext cx="5787886" cy="39259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1BA7981C-CD9D-E9A8-633F-B6ADA6704655}"/>
              </a:ext>
            </a:extLst>
          </p:cNvPr>
          <p:cNvGraphicFramePr/>
          <p:nvPr>
            <p:extLst>
              <p:ext uri="{D42A27DB-BD31-4B8C-83A1-F6EECF244321}">
                <p14:modId xmlns:p14="http://schemas.microsoft.com/office/powerpoint/2010/main" val="192177096"/>
              </p:ext>
            </p:extLst>
          </p:nvPr>
        </p:nvGraphicFramePr>
        <p:xfrm>
          <a:off x="6096000" y="1376339"/>
          <a:ext cx="5787886" cy="39207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9279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0BCB82E-09E4-A803-EBA2-F5EA7095843B}"/>
              </a:ext>
            </a:extLst>
          </p:cNvPr>
          <p:cNvGraphicFramePr/>
          <p:nvPr>
            <p:extLst>
              <p:ext uri="{D42A27DB-BD31-4B8C-83A1-F6EECF244321}">
                <p14:modId xmlns:p14="http://schemas.microsoft.com/office/powerpoint/2010/main" val="2477592670"/>
              </p:ext>
            </p:extLst>
          </p:nvPr>
        </p:nvGraphicFramePr>
        <p:xfrm>
          <a:off x="294862" y="1500809"/>
          <a:ext cx="5665304" cy="37967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43D4A689-5BF0-537E-246E-9E377BE3B763}"/>
              </a:ext>
            </a:extLst>
          </p:cNvPr>
          <p:cNvGraphicFramePr/>
          <p:nvPr>
            <p:extLst>
              <p:ext uri="{D42A27DB-BD31-4B8C-83A1-F6EECF244321}">
                <p14:modId xmlns:p14="http://schemas.microsoft.com/office/powerpoint/2010/main" val="2472970951"/>
              </p:ext>
            </p:extLst>
          </p:nvPr>
        </p:nvGraphicFramePr>
        <p:xfrm>
          <a:off x="6231835" y="1500809"/>
          <a:ext cx="5665304" cy="37967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99546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9602D94-CC62-02FC-4580-93842A4FD5DC}"/>
              </a:ext>
            </a:extLst>
          </p:cNvPr>
          <p:cNvGraphicFramePr/>
          <p:nvPr>
            <p:extLst>
              <p:ext uri="{D42A27DB-BD31-4B8C-83A1-F6EECF244321}">
                <p14:modId xmlns:p14="http://schemas.microsoft.com/office/powerpoint/2010/main" val="3559162216"/>
              </p:ext>
            </p:extLst>
          </p:nvPr>
        </p:nvGraphicFramePr>
        <p:xfrm>
          <a:off x="2471530" y="1171885"/>
          <a:ext cx="7248939" cy="45142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2260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A1E88-0114-8A2C-6005-DC643A8EB875}"/>
              </a:ext>
            </a:extLst>
          </p:cNvPr>
          <p:cNvSpPr>
            <a:spLocks noGrp="1"/>
          </p:cNvSpPr>
          <p:nvPr>
            <p:ph type="title"/>
          </p:nvPr>
        </p:nvSpPr>
        <p:spPr/>
        <p:txBody>
          <a:bodyPr/>
          <a:lstStyle/>
          <a:p>
            <a:r>
              <a:rPr lang="en-US" dirty="0"/>
              <a:t>Discussion and takeaways</a:t>
            </a:r>
          </a:p>
        </p:txBody>
      </p:sp>
      <p:sp>
        <p:nvSpPr>
          <p:cNvPr id="3" name="Content Placeholder 2">
            <a:extLst>
              <a:ext uri="{FF2B5EF4-FFF2-40B4-BE49-F238E27FC236}">
                <a16:creationId xmlns:a16="http://schemas.microsoft.com/office/drawing/2014/main" id="{25C0A2C7-6CD4-D87D-7D9A-65B54A01686F}"/>
              </a:ext>
            </a:extLst>
          </p:cNvPr>
          <p:cNvSpPr>
            <a:spLocks noGrp="1"/>
          </p:cNvSpPr>
          <p:nvPr>
            <p:ph idx="1"/>
          </p:nvPr>
        </p:nvSpPr>
        <p:spPr/>
        <p:txBody>
          <a:bodyPr>
            <a:normAutofit fontScale="92500" lnSpcReduction="20000"/>
          </a:bodyPr>
          <a:lstStyle/>
          <a:p>
            <a:r>
              <a:rPr lang="en-US" dirty="0"/>
              <a:t>Balanced Reality:</a:t>
            </a:r>
          </a:p>
          <a:p>
            <a:pPr lvl="1"/>
            <a:r>
              <a:rPr lang="en-US" dirty="0"/>
              <a:t>Post-Huawei v ZTE, German courts exhibit balanced approach in SEP litigation.</a:t>
            </a:r>
          </a:p>
          <a:p>
            <a:pPr lvl="1"/>
            <a:r>
              <a:rPr lang="en-US" dirty="0"/>
              <a:t>Both SEP holders and implementers have similar success rates in FRAND defenses.</a:t>
            </a:r>
          </a:p>
          <a:p>
            <a:pPr lvl="1"/>
            <a:r>
              <a:rPr lang="en-US" dirty="0"/>
              <a:t>No indication of injunction likelihood correlating with the amount in dispute.</a:t>
            </a:r>
          </a:p>
          <a:p>
            <a:r>
              <a:rPr lang="en-US" dirty="0"/>
              <a:t>Valid Concerns:</a:t>
            </a:r>
          </a:p>
          <a:p>
            <a:pPr lvl="1"/>
            <a:r>
              <a:rPr lang="en-US" dirty="0"/>
              <a:t>Courts engage superficially with substance of FRAND offers.</a:t>
            </a:r>
          </a:p>
          <a:p>
            <a:pPr lvl="1"/>
            <a:r>
              <a:rPr lang="en-US" dirty="0"/>
              <a:t>Bifurcation of proceedings between validity and infringement raises concerns; many injunctions issued for later invalidated patents.</a:t>
            </a:r>
          </a:p>
          <a:p>
            <a:r>
              <a:rPr lang="en-US" dirty="0"/>
              <a:t>Areas for Improvement:</a:t>
            </a:r>
          </a:p>
          <a:p>
            <a:pPr lvl="1"/>
            <a:r>
              <a:rPr lang="en-US" dirty="0"/>
              <a:t>Disproportionate focus on individual patent validity over substantive FRAND character of offers.</a:t>
            </a:r>
          </a:p>
          <a:p>
            <a:pPr lvl="1"/>
            <a:r>
              <a:rPr lang="en-US" dirty="0"/>
              <a:t>Need for efficient, comprehensive resolution of disputes beyond narrow patent validity focus.</a:t>
            </a:r>
          </a:p>
        </p:txBody>
      </p:sp>
    </p:spTree>
    <p:extLst>
      <p:ext uri="{BB962C8B-B14F-4D97-AF65-F5344CB8AC3E}">
        <p14:creationId xmlns:p14="http://schemas.microsoft.com/office/powerpoint/2010/main" val="329610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1291</Words>
  <Application>Microsoft Office PowerPoint</Application>
  <PresentationFormat>Widescreen</PresentationFormat>
  <Paragraphs>87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Empirical Analysis of the German Caselaw on SEP Injunctions after Huawei v ZTE</vt:lpstr>
      <vt:lpstr>Introduction</vt:lpstr>
      <vt:lpstr>PowerPoint Presentation</vt:lpstr>
      <vt:lpstr>PowerPoint Presentation</vt:lpstr>
      <vt:lpstr>Literature</vt:lpstr>
      <vt:lpstr>PowerPoint Presentation</vt:lpstr>
      <vt:lpstr>PowerPoint Presentation</vt:lpstr>
      <vt:lpstr>Methodology</vt:lpstr>
      <vt:lpstr>PowerPoint Presentation</vt:lpstr>
      <vt:lpstr>Descriptive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and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Santiago Marcelo Bergallo</dc:creator>
  <cp:lastModifiedBy>Santiago Marcelo Bergallo</cp:lastModifiedBy>
  <cp:revision>27</cp:revision>
  <dcterms:created xsi:type="dcterms:W3CDTF">2024-04-21T20:46:41Z</dcterms:created>
  <dcterms:modified xsi:type="dcterms:W3CDTF">2024-04-21T23:16:03Z</dcterms:modified>
</cp:coreProperties>
</file>